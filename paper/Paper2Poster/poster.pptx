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369698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35560">
            <a:solidFill>
              <a:srgbClr val="4B2E83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864968" y="2620883"/>
            <a:ext cx="6435804" cy="1431567"/>
          </a:xfrm>
          <a:prstGeom prst="roundRect">
            <a:avLst>
              <a:gd name="adj" fmla="val 66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6543040"/>
            <a:ext cx="10804961" cy="7900848"/>
          </a:xfrm>
          <a:prstGeom prst="roundRect">
            <a:avLst>
              <a:gd name="adj" fmla="val 2100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3568" y="6543040"/>
            <a:ext cx="13506133" cy="10257393"/>
          </a:xfrm>
          <a:prstGeom prst="roundRect">
            <a:avLst>
              <a:gd name="adj" fmla="val 1617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816421" y="6543040"/>
            <a:ext cx="13506271" cy="5175924"/>
          </a:xfrm>
          <a:prstGeom prst="roundRect">
            <a:avLst>
              <a:gd name="adj" fmla="val 3206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6543040"/>
            <a:ext cx="10804962" cy="7893486"/>
          </a:xfrm>
          <a:prstGeom prst="roundRect">
            <a:avLst>
              <a:gd name="adj" fmla="val 210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816421" y="12050811"/>
            <a:ext cx="13506271" cy="18021141"/>
          </a:xfrm>
          <a:prstGeom prst="roundRect">
            <a:avLst>
              <a:gd name="adj" fmla="val 1228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49412" y="14768373"/>
            <a:ext cx="10804962" cy="5494854"/>
          </a:xfrm>
          <a:prstGeom prst="roundRect">
            <a:avLst>
              <a:gd name="adj" fmla="val 3020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14775735"/>
            <a:ext cx="10804961" cy="15296217"/>
          </a:xfrm>
          <a:prstGeom prst="roundRect">
            <a:avLst>
              <a:gd name="adj" fmla="val 153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3568" y="17132280"/>
            <a:ext cx="13506133" cy="5805447"/>
          </a:xfrm>
          <a:prstGeom prst="roundRect">
            <a:avLst>
              <a:gd name="adj" fmla="val 2858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49412" y="20595074"/>
            <a:ext cx="10804962" cy="4658221"/>
          </a:xfrm>
          <a:prstGeom prst="roundRect">
            <a:avLst>
              <a:gd name="adj" fmla="val 3562"/>
            </a:avLst>
          </a:prstGeom>
          <a:solidFill>
            <a:srgbClr val="F0EDF5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20595074"/>
            <a:ext cx="53340" cy="4658221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3568" y="23269575"/>
            <a:ext cx="13506133" cy="6802377"/>
          </a:xfrm>
          <a:prstGeom prst="roundRect">
            <a:avLst>
              <a:gd name="adj" fmla="val 2439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49412" y="25585142"/>
            <a:ext cx="10804962" cy="4486810"/>
          </a:xfrm>
          <a:prstGeom prst="roundRect">
            <a:avLst>
              <a:gd name="adj" fmla="val 3698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epseek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219" y="2381004"/>
            <a:ext cx="9029879" cy="1911325"/>
          </a:xfrm>
          <a:prstGeom prst="rect">
            <a:avLst/>
          </a:prstGeom>
        </p:spPr>
      </p:pic>
      <p:pic>
        <p:nvPicPr>
          <p:cNvPr id="17" name="Picture 16" descr="tsinghua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072" y="2380992"/>
            <a:ext cx="1911350" cy="19113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777" y="6551930"/>
            <a:ext cx="10787181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92458" y="6551930"/>
            <a:ext cx="13488353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58302" y="6551930"/>
            <a:ext cx="10787182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137516" y="11121390"/>
            <a:ext cx="10028754" cy="1553805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9991" y="11337944"/>
            <a:ext cx="10028753" cy="2717840"/>
          </a:xfrm>
          <a:prstGeom prst="roundRect">
            <a:avLst>
              <a:gd name="adj" fmla="val 6716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1337944"/>
            <a:ext cx="124460" cy="2717840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37516" y="12793404"/>
            <a:ext cx="10028754" cy="12561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37516" y="12793404"/>
            <a:ext cx="10028754" cy="11557"/>
          </a:xfrm>
          <a:prstGeom prst="rect">
            <a:avLst/>
          </a:prstGeom>
          <a:solidFill>
            <a:srgbClr val="C0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758302" y="14777263"/>
            <a:ext cx="10787182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0777" y="14784625"/>
            <a:ext cx="10787181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137516" y="16082148"/>
            <a:ext cx="10028754" cy="3796030"/>
          </a:xfrm>
          <a:prstGeom prst="roundRect">
            <a:avLst>
              <a:gd name="adj" fmla="val 1873"/>
            </a:avLst>
          </a:prstGeom>
          <a:gradFill rotWithShape="1" flip="none">
            <a:gsLst>
              <a:gs pos="0">
                <a:srgbClr val="E9E6F0"/>
              </a:gs>
              <a:gs pos="100000">
                <a:srgbClr val="F4F2F8"/>
              </a:gs>
            </a:gsLst>
            <a:lin ang="5400000" scaled="0"/>
          </a:gradFill>
          <a:ln w="8890">
            <a:solidFill>
              <a:srgbClr val="D2CB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9802752" y="20603964"/>
            <a:ext cx="10742732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181966" y="22211109"/>
            <a:ext cx="9984304" cy="2666444"/>
          </a:xfrm>
          <a:prstGeom prst="roundRect">
            <a:avLst>
              <a:gd name="adj" fmla="val 6259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25370254"/>
            <a:ext cx="1002875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9991" y="25370254"/>
            <a:ext cx="124460" cy="21590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2271672" y="28103234"/>
            <a:ext cx="12729925" cy="1581865"/>
          </a:xfrm>
          <a:prstGeom prst="roundRect">
            <a:avLst>
              <a:gd name="adj" fmla="val 1266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6204525" y="6931144"/>
            <a:ext cx="617716" cy="617716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667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42" b="1">
                <a:solidFill>
                  <a:srgbClr val="4B2E83"/>
                </a:solidFill>
                <a:latin typeface="Verdana"/>
              </a:rPr>
              <a:t>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539067" y="8052395"/>
            <a:ext cx="12195135" cy="7467600"/>
          </a:xfrm>
          <a:prstGeom prst="roundRect">
            <a:avLst>
              <a:gd name="adj" fmla="val 126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9067" y="8055810"/>
            <a:ext cx="12195135" cy="746077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5155227" y="10070286"/>
            <a:ext cx="3779361" cy="1274604"/>
          </a:xfrm>
          <a:prstGeom prst="roundRect">
            <a:avLst>
              <a:gd name="adj" fmla="val 19231"/>
            </a:avLst>
          </a:prstGeom>
          <a:solidFill>
            <a:srgbClr val="F1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6204525" y="10197802"/>
            <a:ext cx="3779361" cy="1019572"/>
          </a:xfrm>
          <a:prstGeom prst="roundRect">
            <a:avLst>
              <a:gd name="adj" fmla="val 24042"/>
            </a:avLst>
          </a:prstGeom>
          <a:solidFill>
            <a:srgbClr val="F1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0679806" y="10197802"/>
            <a:ext cx="3779500" cy="1019572"/>
          </a:xfrm>
          <a:prstGeom prst="roundRect">
            <a:avLst>
              <a:gd name="adj" fmla="val 24042"/>
            </a:avLst>
          </a:prstGeom>
          <a:solidFill>
            <a:srgbClr val="F1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29496" y="11494353"/>
            <a:ext cx="2447945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Verdana"/>
              </a:rPr>
              <a:t>SCALE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204525" y="12438915"/>
            <a:ext cx="657026" cy="657027"/>
          </a:xfrm>
          <a:prstGeom prst="roundRect">
            <a:avLst>
              <a:gd name="adj" fmla="val 13335"/>
            </a:avLst>
          </a:prstGeom>
          <a:solidFill>
            <a:srgbClr val="FFFFFF"/>
          </a:solidFill>
          <a:ln w="2667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4B2E83"/>
                </a:solidFill>
                <a:latin typeface="Verdana"/>
              </a:rPr>
              <a:t>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4187" y="16304398"/>
            <a:ext cx="4196218" cy="33990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4187" y="16304398"/>
            <a:ext cx="11557" cy="3399036"/>
          </a:xfrm>
          <a:prstGeom prst="rect">
            <a:avLst/>
          </a:prstGeom>
          <a:solidFill>
            <a:srgbClr val="D2C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2271672" y="17520384"/>
            <a:ext cx="630773" cy="630773"/>
          </a:xfrm>
          <a:prstGeom prst="roundRect">
            <a:avLst>
              <a:gd name="adj" fmla="val 13335"/>
            </a:avLst>
          </a:prstGeom>
          <a:solidFill>
            <a:srgbClr val="FFFFFF"/>
          </a:solidFill>
          <a:ln w="2667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11" b="1">
                <a:solidFill>
                  <a:srgbClr val="4B2E83"/>
                </a:solidFill>
                <a:latin typeface="Verdana"/>
              </a:rPr>
              <a:t>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204525" y="18418690"/>
            <a:ext cx="4069536" cy="1994833"/>
          </a:xfrm>
          <a:prstGeom prst="roundRect">
            <a:avLst>
              <a:gd name="adj" fmla="val 13072"/>
            </a:avLst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534788" y="18418690"/>
            <a:ext cx="4069537" cy="1994833"/>
          </a:xfrm>
          <a:prstGeom prst="roundRect">
            <a:avLst>
              <a:gd name="adj" fmla="val 13072"/>
            </a:avLst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865052" y="18418690"/>
            <a:ext cx="4069536" cy="1994833"/>
          </a:xfrm>
          <a:prstGeom prst="roundRect">
            <a:avLst>
              <a:gd name="adj" fmla="val 13072"/>
            </a:avLst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39991" y="20813434"/>
            <a:ext cx="4494034" cy="4176633"/>
          </a:xfrm>
          <a:prstGeom prst="roundRect">
            <a:avLst>
              <a:gd name="adj" fmla="val 4994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74571" y="20813434"/>
            <a:ext cx="4494173" cy="4365685"/>
          </a:xfrm>
          <a:prstGeom prst="roundRect">
            <a:avLst>
              <a:gd name="adj" fmla="val 4778"/>
            </a:avLst>
          </a:prstGeom>
          <a:solidFill>
            <a:srgbClr val="F4F2F8"/>
          </a:solidFill>
          <a:ln w="889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2271672" y="21763692"/>
            <a:ext cx="1778695" cy="787043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51" b="1">
                <a:solidFill>
                  <a:srgbClr val="4B2E83"/>
                </a:solidFill>
                <a:latin typeface="Verdana"/>
              </a:rPr>
              <a:t>FnCall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200524" y="21763692"/>
            <a:ext cx="2541985" cy="787043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51" b="1">
                <a:solidFill>
                  <a:srgbClr val="4B2E83"/>
                </a:solidFill>
                <a:latin typeface="Verdana"/>
              </a:rPr>
              <a:t>Container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892666" y="21763692"/>
            <a:ext cx="2248337" cy="787043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51" b="1">
                <a:solidFill>
                  <a:srgbClr val="AE2622"/>
                </a:solidFill>
                <a:latin typeface="Verdana"/>
              </a:rPr>
              <a:t>MicroVM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291161" y="21763692"/>
            <a:ext cx="1970107" cy="787043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51" b="1">
                <a:solidFill>
                  <a:srgbClr val="AE2622"/>
                </a:solidFill>
                <a:latin typeface="Verdana"/>
              </a:rPr>
              <a:t>Full VM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271672" y="23657679"/>
            <a:ext cx="630773" cy="630773"/>
          </a:xfrm>
          <a:prstGeom prst="roundRect">
            <a:avLst>
              <a:gd name="adj" fmla="val 13335"/>
            </a:avLst>
          </a:prstGeom>
          <a:solidFill>
            <a:srgbClr val="FFFFFF"/>
          </a:solidFill>
          <a:ln w="2667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11" b="1">
                <a:solidFill>
                  <a:srgbClr val="4B2E83"/>
                </a:solidFill>
                <a:latin typeface="Verdana"/>
              </a:rPr>
              <a:t>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271672" y="24720450"/>
            <a:ext cx="1905099" cy="859274"/>
          </a:xfrm>
          <a:prstGeom prst="roundRect">
            <a:avLst>
              <a:gd name="adj" fmla="val 16722"/>
            </a:avLst>
          </a:prstGeom>
          <a:solidFill>
            <a:srgbClr val="FFFFFF"/>
          </a:solidFill>
          <a:ln w="8890">
            <a:solidFill>
              <a:srgbClr val="BBA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32" b="1">
                <a:solidFill>
                  <a:srgbClr val="4B2E83"/>
                </a:solidFill>
                <a:latin typeface="Verdana"/>
              </a:rPr>
              <a:t>SDK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977844" y="24720450"/>
            <a:ext cx="1905238" cy="859274"/>
          </a:xfrm>
          <a:prstGeom prst="roundRect">
            <a:avLst>
              <a:gd name="adj" fmla="val 16722"/>
            </a:avLst>
          </a:prstGeom>
          <a:solidFill>
            <a:srgbClr val="FFFFFF"/>
          </a:solidFill>
          <a:ln w="8890">
            <a:solidFill>
              <a:srgbClr val="BBA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32" b="1">
                <a:solidFill>
                  <a:srgbClr val="4B2E83"/>
                </a:solidFill>
                <a:latin typeface="Verdana"/>
              </a:rPr>
              <a:t>API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684154" y="24720450"/>
            <a:ext cx="1905099" cy="859274"/>
          </a:xfrm>
          <a:prstGeom prst="roundRect">
            <a:avLst>
              <a:gd name="adj" fmla="val 16722"/>
            </a:avLst>
          </a:prstGeom>
          <a:solidFill>
            <a:srgbClr val="FFFFFF"/>
          </a:solidFill>
          <a:ln w="8890">
            <a:solidFill>
              <a:srgbClr val="BBA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32" b="1">
                <a:solidFill>
                  <a:srgbClr val="4B2E83"/>
                </a:solidFill>
                <a:latin typeface="Verdana"/>
              </a:rPr>
              <a:t>Place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390326" y="24720450"/>
            <a:ext cx="1905099" cy="859274"/>
          </a:xfrm>
          <a:prstGeom prst="roundRect">
            <a:avLst>
              <a:gd name="adj" fmla="val 16722"/>
            </a:avLst>
          </a:prstGeom>
          <a:solidFill>
            <a:srgbClr val="FFFFFF"/>
          </a:solidFill>
          <a:ln w="8890">
            <a:solidFill>
              <a:srgbClr val="BBA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32" b="1">
                <a:solidFill>
                  <a:srgbClr val="4B2E83"/>
                </a:solidFill>
                <a:latin typeface="Verdana"/>
              </a:rPr>
              <a:t>Edge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096497" y="24720450"/>
            <a:ext cx="1905100" cy="859274"/>
          </a:xfrm>
          <a:prstGeom prst="roundRect">
            <a:avLst>
              <a:gd name="adj" fmla="val 16722"/>
            </a:avLst>
          </a:prstGeom>
          <a:solidFill>
            <a:srgbClr val="FFFFFF"/>
          </a:solidFill>
          <a:ln w="8890">
            <a:solidFill>
              <a:srgbClr val="BBA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32" b="1">
                <a:solidFill>
                  <a:srgbClr val="4B2E83"/>
                </a:solidFill>
                <a:latin typeface="Verdana"/>
              </a:rPr>
              <a:t>Run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137516" y="10134183"/>
            <a:ext cx="10028754" cy="757872"/>
          </a:xfrm>
          <a:prstGeom prst="rect">
            <a:avLst/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6474142" y="10335041"/>
            <a:ext cx="745093" cy="745093"/>
          </a:xfrm>
          <a:prstGeom prst="roundRect">
            <a:avLst>
              <a:gd name="adj" fmla="val 50000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67" b="1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949423" y="10335041"/>
            <a:ext cx="745093" cy="745093"/>
          </a:xfrm>
          <a:prstGeom prst="roundRect">
            <a:avLst>
              <a:gd name="adj" fmla="val 50000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67" b="1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5424844" y="10335041"/>
            <a:ext cx="745093" cy="745093"/>
          </a:xfrm>
          <a:prstGeom prst="roundRect">
            <a:avLst>
              <a:gd name="adj" fmla="val 50000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67" b="1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204525" y="25727382"/>
            <a:ext cx="12730063" cy="1663541"/>
          </a:xfrm>
          <a:prstGeom prst="rect">
            <a:avLst/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043935" y="25973246"/>
            <a:ext cx="3044130" cy="3044130"/>
          </a:xfrm>
          <a:prstGeom prst="roundRect">
            <a:avLst>
              <a:gd name="adj" fmla="val 506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2468" y="26091779"/>
            <a:ext cx="2807064" cy="2807064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47923350" y="29159616"/>
            <a:ext cx="1285300" cy="524232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4B2E83"/>
                </a:solidFill>
                <a:latin typeface="Verdana"/>
              </a:rPr>
              <a:t>Paper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137516" y="8052395"/>
            <a:ext cx="4142601" cy="566043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0137516" y="8609548"/>
            <a:ext cx="414260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4280117" y="8052395"/>
            <a:ext cx="2762290" cy="566043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280117" y="8609548"/>
            <a:ext cx="27622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042407" y="8052395"/>
            <a:ext cx="3123863" cy="566043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7042407" y="8609548"/>
            <a:ext cx="312386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137516" y="8618438"/>
            <a:ext cx="4142601" cy="7578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0137516" y="9367420"/>
            <a:ext cx="414260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4280117" y="8618438"/>
            <a:ext cx="2762290" cy="7578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280117" y="9367420"/>
            <a:ext cx="27622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7042407" y="8618438"/>
            <a:ext cx="3123863" cy="7578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7042407" y="9367420"/>
            <a:ext cx="312386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137516" y="9376310"/>
            <a:ext cx="4142601" cy="7578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0137516" y="10125293"/>
            <a:ext cx="414260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4280117" y="9376310"/>
            <a:ext cx="2762290" cy="7578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4280117" y="10125293"/>
            <a:ext cx="27622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7042407" y="9376310"/>
            <a:ext cx="3123863" cy="7578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7042407" y="10125293"/>
            <a:ext cx="312386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0137516" y="10134183"/>
            <a:ext cx="4142601" cy="7578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137516" y="10883165"/>
            <a:ext cx="4142601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4280117" y="10134183"/>
            <a:ext cx="2762290" cy="7578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4280117" y="10883165"/>
            <a:ext cx="276229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7042407" y="10134183"/>
            <a:ext cx="3123863" cy="7578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042407" y="10883165"/>
            <a:ext cx="312386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6204525" y="20436720"/>
            <a:ext cx="4154963" cy="1245156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6204525" y="21672986"/>
            <a:ext cx="415496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0359488" y="20436720"/>
            <a:ext cx="4215666" cy="1245156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0359488" y="21672986"/>
            <a:ext cx="421566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4575154" y="20436720"/>
            <a:ext cx="4359434" cy="1245156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4575154" y="21672986"/>
            <a:ext cx="4359434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6204525" y="21681876"/>
            <a:ext cx="4154963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6204525" y="23336527"/>
            <a:ext cx="415496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0359488" y="21681876"/>
            <a:ext cx="4215666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0359488" y="23336527"/>
            <a:ext cx="421566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4575154" y="21681876"/>
            <a:ext cx="4359434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4575154" y="23336527"/>
            <a:ext cx="4359434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204525" y="23345417"/>
            <a:ext cx="4154963" cy="23819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6204525" y="25718492"/>
            <a:ext cx="415496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0359488" y="23345417"/>
            <a:ext cx="4215666" cy="23819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0359488" y="25718492"/>
            <a:ext cx="421566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4575154" y="23345417"/>
            <a:ext cx="4359434" cy="23819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4575154" y="25718492"/>
            <a:ext cx="4359434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6204525" y="25727382"/>
            <a:ext cx="4154963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6204525" y="27382033"/>
            <a:ext cx="4154963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0359488" y="25727382"/>
            <a:ext cx="4215666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0359488" y="27382033"/>
            <a:ext cx="421566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4575154" y="25727382"/>
            <a:ext cx="4359434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4575154" y="27382033"/>
            <a:ext cx="4359434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0473947" y="22300703"/>
            <a:ext cx="9518103" cy="25665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70"/>
              </a:lnSpc>
              <a:spcBef>
                <a:spcPts val="0"/>
              </a:spcBef>
              <a:spcAft>
                <a:spcPts val="0"/>
              </a:spcAft>
            </a:pPr>
            <a:r>
              <a:rPr sz="3285" b="1">
                <a:solidFill>
                  <a:srgbClr val="FFFFFF"/>
                </a:solidFill>
                <a:latin typeface="Verdana"/>
              </a:rPr>
              <a:t>DSec scales agentic RL by co-designing isolation, data access, lifecycle, memory, and CPU control while preserving rollout state across preemption.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215887" y="1019294"/>
            <a:ext cx="12086128" cy="53301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5973" b="1" spc="59">
                <a:solidFill>
                  <a:srgbClr val="4B2E83"/>
                </a:solidFill>
                <a:latin typeface="Verdana"/>
              </a:rPr>
              <a:t>PREPRINT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464460" y="1019294"/>
            <a:ext cx="24704060" cy="3778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387"/>
              </a:lnSpc>
              <a:spcBef>
                <a:spcPts val="0"/>
              </a:spcBef>
              <a:spcAft>
                <a:spcPts val="0"/>
              </a:spcAft>
            </a:pPr>
            <a:r>
              <a:rPr sz="7624" b="1" spc="-78">
                <a:solidFill>
                  <a:srgbClr val="4B2E83"/>
                </a:solidFill>
                <a:latin typeface="Verdana"/>
              </a:rPr>
              <a:t>DeepSeek Elastic Compute (DSec): A Sandbox</a:t>
            </a:r>
          </a:p>
          <a:p>
            <a:pPr algn="ctr">
              <a:lnSpc>
                <a:spcPts val="8387"/>
              </a:lnSpc>
              <a:spcBef>
                <a:spcPts val="0"/>
              </a:spcBef>
              <a:spcAft>
                <a:spcPts val="0"/>
              </a:spcAft>
            </a:pPr>
            <a:r>
              <a:rPr sz="7624" b="1" spc="-78">
                <a:solidFill>
                  <a:srgbClr val="4B2E83"/>
                </a:solidFill>
                <a:latin typeface="Verdana"/>
              </a:rPr>
              <a:t>Infrastructure for Effective Agentic Training at</a:t>
            </a:r>
          </a:p>
          <a:p>
            <a:pPr algn="ctr">
              <a:lnSpc>
                <a:spcPts val="8387"/>
              </a:lnSpc>
              <a:spcBef>
                <a:spcPts val="0"/>
              </a:spcBef>
              <a:spcAft>
                <a:spcPts val="0"/>
              </a:spcAft>
            </a:pPr>
            <a:r>
              <a:rPr sz="7624" b="1" spc="-78">
                <a:solidFill>
                  <a:srgbClr val="4B2E83"/>
                </a:solidFill>
                <a:latin typeface="Verdana"/>
              </a:rPr>
              <a:t>Scale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464460" y="4503757"/>
            <a:ext cx="24704060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Verdana"/>
              </a:rPr>
              <a:t>Jialiang Huang</a:t>
            </a:r>
            <a:r>
              <a:rPr sz="5226" b="0" baseline="30000">
                <a:solidFill>
                  <a:srgbClr val="1C1C1C"/>
                </a:solidFill>
                <a:latin typeface="Verdana"/>
              </a:rPr>
              <a:t>1,2</a:t>
            </a:r>
            <a:r>
              <a:rPr sz="3733" b="0">
                <a:solidFill>
                  <a:srgbClr val="1C1C1C"/>
                </a:solidFill>
                <a:latin typeface="Verdana"/>
              </a:rPr>
              <a:t>, Hongxuan Tang</a:t>
            </a:r>
            <a:r>
              <a:rPr sz="5226" b="0" baseline="30000">
                <a:solidFill>
                  <a:srgbClr val="1C1C1C"/>
                </a:solidFill>
                <a:latin typeface="Verdana"/>
              </a:rPr>
              <a:t>1</a:t>
            </a:r>
            <a:r>
              <a:rPr sz="3733" b="0">
                <a:solidFill>
                  <a:srgbClr val="1C1C1C"/>
                </a:solidFill>
                <a:latin typeface="Verdana"/>
              </a:rPr>
              <a:t>, Jingchang Chen</a:t>
            </a:r>
            <a:r>
              <a:rPr sz="5226" b="0" baseline="30000">
                <a:solidFill>
                  <a:srgbClr val="1C1C1C"/>
                </a:solidFill>
                <a:latin typeface="Verdana"/>
              </a:rPr>
              <a:t>1</a:t>
            </a:r>
            <a:r>
              <a:rPr sz="3733" b="0">
                <a:solidFill>
                  <a:srgbClr val="1C1C1C"/>
                </a:solidFill>
                <a:latin typeface="Verdana"/>
              </a:rPr>
              <a:t>, Yuxuan Liu</a:t>
            </a:r>
            <a:r>
              <a:rPr sz="5226" b="0" baseline="30000">
                <a:solidFill>
                  <a:srgbClr val="1C1C1C"/>
                </a:solidFill>
                <a:latin typeface="Verdana"/>
              </a:rPr>
              <a:t>1</a:t>
            </a:r>
            <a:r>
              <a:rPr sz="3733" b="0">
                <a:solidFill>
                  <a:srgbClr val="1C1C1C"/>
                </a:solidFill>
                <a:latin typeface="Verdana"/>
              </a:rPr>
              <a:t>, Yixiao Chen</a:t>
            </a:r>
            <a:r>
              <a:rPr sz="5226" b="0" baseline="30000">
                <a:solidFill>
                  <a:srgbClr val="1C1C1C"/>
                </a:solidFill>
                <a:latin typeface="Verdana"/>
              </a:rPr>
              <a:t>1</a:t>
            </a:r>
            <a:r>
              <a:rPr sz="3733" b="0">
                <a:solidFill>
                  <a:srgbClr val="1C1C1C"/>
                </a:solidFill>
                <a:latin typeface="Verdana"/>
              </a:rPr>
              <a:t>, et al.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464460" y="5173007"/>
            <a:ext cx="24704060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Verdana"/>
              </a:rPr>
              <a:t>1</a:t>
            </a:r>
            <a:r>
              <a:rPr sz="2613" b="0" spc="52">
                <a:solidFill>
                  <a:srgbClr val="555555"/>
                </a:solidFill>
                <a:latin typeface="Verdana"/>
              </a:rPr>
              <a:t> DeepSeek-AI    </a:t>
            </a:r>
            <a:r>
              <a:rPr sz="3658" b="0" spc="52" baseline="30000">
                <a:solidFill>
                  <a:srgbClr val="555555"/>
                </a:solidFill>
                <a:latin typeface="Verdana"/>
              </a:rPr>
              <a:t>2</a:t>
            </a:r>
            <a:r>
              <a:rPr sz="2613" b="0" spc="52">
                <a:solidFill>
                  <a:srgbClr val="555555"/>
                </a:solidFill>
                <a:latin typeface="Verdana"/>
              </a:rPr>
              <a:t> Tsinghua University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0777" y="6551930"/>
            <a:ext cx="11110796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Verdana"/>
              </a:rPr>
              <a:t>Problem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892458" y="6551930"/>
            <a:ext cx="13893003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Verdana"/>
              </a:rPr>
              <a:t>Method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758302" y="6551930"/>
            <a:ext cx="11110797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Verdana"/>
              </a:rPr>
              <a:t>Key Results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204525" y="7737633"/>
            <a:ext cx="13111964" cy="2452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597"/>
              </a:lnSpc>
              <a:spcBef>
                <a:spcPts val="0"/>
              </a:spcBef>
              <a:spcAft>
                <a:spcPts val="0"/>
              </a:spcAft>
            </a:pPr>
            <a:r>
              <a:rPr sz="3860" b="0">
                <a:solidFill>
                  <a:srgbClr val="1C1C1C"/>
                </a:solidFill>
                <a:latin typeface="Verdana"/>
              </a:rPr>
              <a:t>Immutable </a:t>
            </a:r>
            <a:r>
              <a:rPr sz="3860" b="1">
                <a:solidFill>
                  <a:srgbClr val="111111"/>
                </a:solidFill>
                <a:latin typeface="Verdana"/>
              </a:rPr>
              <a:t>EROFS</a:t>
            </a:r>
            <a:r>
              <a:rPr sz="3860" b="0">
                <a:solidFill>
                  <a:srgbClr val="1C1C1C"/>
                </a:solidFill>
                <a:latin typeface="Verdana"/>
              </a:rPr>
              <a:t> layers keep metadata local while </a:t>
            </a:r>
            <a:r>
              <a:rPr sz="3860" b="1">
                <a:solidFill>
                  <a:srgbClr val="111111"/>
                </a:solidFill>
                <a:latin typeface="Verdana"/>
              </a:rPr>
              <a:t>3FS</a:t>
            </a:r>
          </a:p>
          <a:p>
            <a:pPr algn="l">
              <a:lnSpc>
                <a:spcPts val="5597"/>
              </a:lnSpc>
              <a:spcBef>
                <a:spcPts val="0"/>
              </a:spcBef>
              <a:spcAft>
                <a:spcPts val="0"/>
              </a:spcAft>
            </a:pPr>
            <a:r>
              <a:rPr sz="3860" b="0">
                <a:solidFill>
                  <a:srgbClr val="1C1C1C"/>
                </a:solidFill>
                <a:latin typeface="Verdana"/>
              </a:rPr>
              <a:t>serves file data lazily, avoiding full-image download and</a:t>
            </a:r>
          </a:p>
          <a:p>
            <a:pPr algn="l">
              <a:lnSpc>
                <a:spcPts val="5597"/>
              </a:lnSpc>
              <a:spcBef>
                <a:spcPts val="0"/>
              </a:spcBef>
              <a:spcAft>
                <a:spcPts val="0"/>
              </a:spcAft>
            </a:pPr>
            <a:r>
              <a:rPr sz="3860" b="0">
                <a:solidFill>
                  <a:srgbClr val="1C1C1C"/>
                </a:solidFill>
                <a:latin typeface="Verdana"/>
              </a:rPr>
              <a:t>repeated extraction.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39991" y="8052395"/>
            <a:ext cx="1032961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Agentic training creates </a:t>
            </a:r>
            <a:r>
              <a:rPr sz="4106" b="1">
                <a:solidFill>
                  <a:srgbClr val="111111"/>
                </a:solidFill>
                <a:latin typeface="Verdana"/>
              </a:rPr>
              <a:t>bursty, stateful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sandboxes; persistent memory, huge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image corpora, and mixed isolation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exceed any single runtime.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137516" y="11121390"/>
            <a:ext cx="10329616" cy="1786875"/>
          </a:xfrm>
          <a:prstGeom prst="rect">
            <a:avLst/>
          </a:prstGeom>
          <a:noFill/>
        </p:spPr>
        <p:txBody>
          <a:bodyPr wrap="none" lIns="388447" rIns="388447" tIns="224891" bIns="224891">
            <a:spAutoFit/>
          </a:bodyPr>
          <a:lstStyle/>
          <a:p>
            <a:pPr algn="ctr">
              <a:lnSpc>
                <a:spcPts val="4346"/>
              </a:lnSpc>
              <a:spcBef>
                <a:spcPts val="0"/>
              </a:spcBef>
              <a:spcAft>
                <a:spcPts val="0"/>
              </a:spcAft>
            </a:pPr>
            <a:r>
              <a:rPr sz="3219" b="1">
                <a:solidFill>
                  <a:srgbClr val="4B2E83"/>
                </a:solidFill>
                <a:latin typeface="Verdana"/>
              </a:rPr>
              <a:t>≈57% fewer disk writes than eager image</a:t>
            </a:r>
          </a:p>
          <a:p>
            <a:pPr algn="ctr">
              <a:lnSpc>
                <a:spcPts val="4346"/>
              </a:lnSpc>
              <a:spcBef>
                <a:spcPts val="0"/>
              </a:spcBef>
              <a:spcAft>
                <a:spcPts val="0"/>
              </a:spcAft>
            </a:pPr>
            <a:r>
              <a:rPr sz="3219" b="1">
                <a:solidFill>
                  <a:srgbClr val="4B2E83"/>
                </a:solidFill>
                <a:latin typeface="Verdana"/>
              </a:rPr>
              <a:t>pulling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137516" y="12793404"/>
            <a:ext cx="10329616" cy="1444548"/>
          </a:xfrm>
          <a:prstGeom prst="rect">
            <a:avLst/>
          </a:prstGeom>
          <a:noFill/>
        </p:spPr>
        <p:txBody>
          <a:bodyPr wrap="square" lIns="0" rIns="0" tIns="172736" bIns="0">
            <a:spAutoFit/>
          </a:bodyPr>
          <a:lstStyle/>
          <a:p>
            <a:pPr algn="l">
              <a:lnSpc>
                <a:spcPts val="4231"/>
              </a:lnSpc>
              <a:spcBef>
                <a:spcPts val="0"/>
              </a:spcBef>
              <a:spcAft>
                <a:spcPts val="0"/>
              </a:spcAft>
            </a:pPr>
            <a:r>
              <a:rPr sz="2357" b="1" spc="141">
                <a:solidFill>
                  <a:srgbClr val="111111"/>
                </a:solidFill>
                <a:latin typeface="Verdana"/>
              </a:rPr>
              <a:t>SO WHAT → </a:t>
            </a:r>
            <a:r>
              <a:rPr sz="3022" b="0" i="1">
                <a:solidFill>
                  <a:srgbClr val="1C1C1C"/>
                </a:solidFill>
                <a:latin typeface="Verdana"/>
              </a:rPr>
              <a:t>Lazy data access approaches fully-local speed while avoiding eager distribution and extraction.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9758302" y="14777263"/>
            <a:ext cx="11110797" cy="1357488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Verdana"/>
              </a:rPr>
              <a:t>Headline Numbers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0777" y="14784625"/>
            <a:ext cx="11110796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Verdana"/>
              </a:rPr>
              <a:t>Motivation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9802752" y="20603964"/>
            <a:ext cx="11065013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Verdana"/>
              </a:rPr>
              <a:t>Takeaway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181966" y="22211109"/>
            <a:ext cx="10283833" cy="3066410"/>
          </a:xfrm>
          <a:prstGeom prst="rect">
            <a:avLst/>
          </a:prstGeom>
          <a:noFill/>
        </p:spPr>
        <p:txBody>
          <a:bodyPr wrap="none" lIns="292065" rIns="292065" tIns="125171" bIns="125171">
            <a:spAutoFit/>
          </a:bodyPr>
          <a:lstStyle/>
          <a:p>
            <a:pPr algn="l">
              <a:lnSpc>
                <a:spcPts val="4270"/>
              </a:lnSpc>
              <a:spcBef>
                <a:spcPts val="0"/>
              </a:spcBef>
              <a:spcAft>
                <a:spcPts val="0"/>
              </a:spcAft>
            </a:pPr>
            <a:r>
              <a:rPr sz="3285" b="1">
                <a:solidFill>
                  <a:srgbClr val="FFFFFF"/>
                </a:solidFill>
                <a:latin typeface="Verdana"/>
              </a:rPr>
              <a:t>DSec scales agentic RL by co-designing</a:t>
            </a:r>
          </a:p>
          <a:p>
            <a:pPr algn="l">
              <a:lnSpc>
                <a:spcPts val="4270"/>
              </a:lnSpc>
              <a:spcBef>
                <a:spcPts val="0"/>
              </a:spcBef>
              <a:spcAft>
                <a:spcPts val="0"/>
              </a:spcAft>
            </a:pPr>
            <a:r>
              <a:rPr sz="3285" b="1">
                <a:solidFill>
                  <a:srgbClr val="FFFFFF"/>
                </a:solidFill>
                <a:latin typeface="Verdana"/>
              </a:rPr>
              <a:t>isolation, data access, lifecycle, memory, and</a:t>
            </a:r>
          </a:p>
          <a:p>
            <a:pPr algn="l">
              <a:lnSpc>
                <a:spcPts val="4270"/>
              </a:lnSpc>
              <a:spcBef>
                <a:spcPts val="0"/>
              </a:spcBef>
              <a:spcAft>
                <a:spcPts val="0"/>
              </a:spcAft>
            </a:pPr>
            <a:r>
              <a:rPr sz="3285" b="1">
                <a:solidFill>
                  <a:srgbClr val="FFFFFF"/>
                </a:solidFill>
                <a:latin typeface="Verdana"/>
              </a:rPr>
              <a:t>CPU control while preserving rollout state</a:t>
            </a:r>
          </a:p>
          <a:p>
            <a:pPr algn="l">
              <a:lnSpc>
                <a:spcPts val="4270"/>
              </a:lnSpc>
              <a:spcBef>
                <a:spcPts val="0"/>
              </a:spcBef>
              <a:spcAft>
                <a:spcPts val="0"/>
              </a:spcAft>
            </a:pPr>
            <a:r>
              <a:rPr sz="3285" b="1">
                <a:solidFill>
                  <a:srgbClr val="FFFFFF"/>
                </a:solidFill>
                <a:latin typeface="Verdana"/>
              </a:rPr>
              <a:t>across preemption.</a:t>
            </a:r>
          </a:p>
          <a:p>
            <a:pPr algn="l">
              <a:lnSpc>
                <a:spcPts val="4270"/>
              </a:lnSpc>
              <a:spcBef>
                <a:spcPts val="0"/>
              </a:spcBef>
              <a:spcAft>
                <a:spcPts val="0"/>
              </a:spcAft>
            </a:pPr>
            <a:r>
              <a:rPr sz="1379" b="1">
                <a:solidFill>
                  <a:srgbClr val="FFFFFF"/>
                </a:solidFill>
                <a:latin typeface="Verdana"/>
              </a:rPr>
              <a:t>Production proof: 380K+ concurrent sandboxes.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39991" y="25370254"/>
            <a:ext cx="10329615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Verdana"/>
              </a:rPr>
              <a:t>CPU demand is intermittent, but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Verdana"/>
              </a:rPr>
              <a:t>memory and accumulated state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Verdana"/>
              </a:rPr>
              <a:t>persist between agent actions.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271672" y="25627647"/>
            <a:ext cx="13111822" cy="25039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16"/>
              </a:lnSpc>
              <a:spcBef>
                <a:spcPts val="0"/>
              </a:spcBef>
              <a:spcAft>
                <a:spcPts val="0"/>
              </a:spcAft>
            </a:pPr>
            <a:r>
              <a:rPr sz="3942" b="0">
                <a:solidFill>
                  <a:srgbClr val="1C1C1C"/>
                </a:solidFill>
                <a:latin typeface="Verdana"/>
              </a:rPr>
              <a:t>The control plane separates global placement from</a:t>
            </a:r>
          </a:p>
          <a:p>
            <a:pPr algn="l">
              <a:lnSpc>
                <a:spcPts val="5716"/>
              </a:lnSpc>
              <a:spcBef>
                <a:spcPts val="0"/>
              </a:spcBef>
              <a:spcAft>
                <a:spcPts val="0"/>
              </a:spcAft>
            </a:pPr>
            <a:r>
              <a:rPr sz="3942" b="0">
                <a:solidFill>
                  <a:srgbClr val="1C1C1C"/>
                </a:solidFill>
                <a:latin typeface="Verdana"/>
              </a:rPr>
              <a:t>node-local lifecycle management, allowing large</a:t>
            </a:r>
          </a:p>
          <a:p>
            <a:pPr algn="l">
              <a:lnSpc>
                <a:spcPts val="5716"/>
              </a:lnSpc>
              <a:spcBef>
                <a:spcPts val="0"/>
              </a:spcBef>
              <a:spcAft>
                <a:spcPts val="0"/>
              </a:spcAft>
            </a:pPr>
            <a:r>
              <a:rPr sz="3942" b="0">
                <a:solidFill>
                  <a:srgbClr val="1C1C1C"/>
                </a:solidFill>
                <a:latin typeface="Verdana"/>
              </a:rPr>
              <a:t>bursts to scale horizontally.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204525" y="27418565"/>
            <a:ext cx="1311196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These controls are complementary: sharing removes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duplicate read-only state, reclamation recovers idle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pages, and CPU QoS protects interactive steps.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39991" y="27720409"/>
            <a:ext cx="10329615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Low reuse and long sessions make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elasticity a system-wide requirement.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271672" y="28103234"/>
            <a:ext cx="13111822" cy="1819144"/>
          </a:xfrm>
          <a:prstGeom prst="rect">
            <a:avLst/>
          </a:prstGeom>
          <a:noFill/>
        </p:spPr>
        <p:txBody>
          <a:bodyPr wrap="none" lIns="325445" rIns="325445" tIns="140191" bIns="140191">
            <a:spAutoFit/>
          </a:bodyPr>
          <a:lstStyle/>
          <a:p>
            <a:pPr algn="l">
              <a:lnSpc>
                <a:spcPts val="5125"/>
              </a:lnSpc>
              <a:spcBef>
                <a:spcPts val="0"/>
              </a:spcBef>
              <a:spcAft>
                <a:spcPts val="0"/>
              </a:spcAft>
            </a:pPr>
            <a:r>
              <a:rPr sz="3942" b="0">
                <a:solidFill>
                  <a:srgbClr val="4B2E83"/>
                </a:solidFill>
                <a:latin typeface="Verdana"/>
              </a:rPr>
              <a:t>Global scheduling, local lifecycle control, one</a:t>
            </a:r>
          </a:p>
          <a:p>
            <a:pPr algn="l">
              <a:lnSpc>
                <a:spcPts val="5125"/>
              </a:lnSpc>
              <a:spcBef>
                <a:spcPts val="0"/>
              </a:spcBef>
              <a:spcAft>
                <a:spcPts val="0"/>
              </a:spcAft>
            </a:pPr>
            <a:r>
              <a:rPr sz="3942" b="0">
                <a:solidFill>
                  <a:srgbClr val="4B2E83"/>
                </a:solidFill>
                <a:latin typeface="Verdana"/>
              </a:rPr>
              <a:t>unified SDK.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028100" y="6944062"/>
            <a:ext cx="7040214" cy="68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61"/>
              </a:lnSpc>
              <a:spcBef>
                <a:spcPts val="0"/>
              </a:spcBef>
              <a:spcAft>
                <a:spcPts val="0"/>
              </a:spcAft>
            </a:pPr>
            <a:r>
              <a:rPr sz="4053" b="1">
                <a:solidFill>
                  <a:srgbClr val="4B2E83"/>
                </a:solidFill>
                <a:latin typeface="Verdana"/>
              </a:rPr>
              <a:t>Composable Environments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838229" y="7056437"/>
            <a:ext cx="3189249" cy="422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89"/>
              </a:lnSpc>
              <a:spcBef>
                <a:spcPts val="0"/>
              </a:spcBef>
              <a:spcAft>
                <a:spcPts val="0"/>
              </a:spcAft>
            </a:pPr>
            <a:r>
              <a:rPr sz="2513" b="1" i="1">
                <a:solidFill>
                  <a:srgbClr val="555555"/>
                </a:solidFill>
                <a:latin typeface="Verdana"/>
              </a:rPr>
              <a:t>load only what runs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0057367" y="10210026"/>
            <a:ext cx="565426" cy="1144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836"/>
              </a:lnSpc>
              <a:spcBef>
                <a:spcPts val="0"/>
              </a:spcBef>
              <a:spcAft>
                <a:spcPts val="0"/>
              </a:spcAft>
            </a:pPr>
            <a:r>
              <a:rPr sz="5404" b="1">
                <a:solidFill>
                  <a:srgbClr val="4B2E83"/>
                </a:solidFill>
                <a:latin typeface="Verdana"/>
              </a:rPr>
              <a:t>›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532788" y="10210026"/>
            <a:ext cx="565425" cy="1144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836"/>
              </a:lnSpc>
              <a:spcBef>
                <a:spcPts val="0"/>
              </a:spcBef>
              <a:spcAft>
                <a:spcPts val="0"/>
              </a:spcAft>
            </a:pPr>
            <a:r>
              <a:rPr sz="5404" b="1">
                <a:solidFill>
                  <a:srgbClr val="4B2E83"/>
                </a:solidFill>
                <a:latin typeface="Verdana"/>
              </a:rPr>
              <a:t>›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529496" y="12341542"/>
            <a:ext cx="9449428" cy="1791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One job may request up to </a:t>
            </a:r>
            <a:r>
              <a:rPr sz="4353" b="1">
                <a:solidFill>
                  <a:srgbClr val="111111"/>
                </a:solidFill>
                <a:latin typeface="Verdana"/>
              </a:rPr>
              <a:t>32,000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stateful sandboxes.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7080467" y="12452528"/>
            <a:ext cx="4556603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4B2E83"/>
                </a:solidFill>
                <a:latin typeface="Verdana"/>
              </a:rPr>
              <a:t>Dense Execution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4545012" y="12572265"/>
            <a:ext cx="4521263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Verdana"/>
              </a:rPr>
              <a:t>share · reclaim · protect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204506" y="13310691"/>
            <a:ext cx="1311198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Verdana"/>
              </a:rPr>
              <a:t>virtio-pmem shares read-only mappings across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Verdana"/>
              </a:rPr>
              <a:t>microVMs.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6204506" y="15005625"/>
            <a:ext cx="1311198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Verdana"/>
              </a:rPr>
              <a:t>DAMON plus balloon FPR reclaims idle guest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Verdana"/>
              </a:rPr>
              <a:t>memory at scale.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3026905" y="15638621"/>
            <a:ext cx="11556041" cy="896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 i="1">
                <a:solidFill>
                  <a:srgbClr val="555555"/>
                </a:solidFill>
                <a:latin typeface="Verdana"/>
              </a:rPr>
              <a:t>DSec architecture: one SDK, four sandbox backends, and 3FS-backed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 i="1">
                <a:solidFill>
                  <a:srgbClr val="555555"/>
                </a:solidFill>
                <a:latin typeface="Verdana"/>
              </a:rPr>
              <a:t>images.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9972" y="16476225"/>
            <a:ext cx="10329635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Verdana"/>
              </a:rPr>
              <a:t>Eager pulls and monolithic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Verdana"/>
              </a:rPr>
              <a:t>environments delay creation bursts.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204506" y="16700559"/>
            <a:ext cx="1311198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Verdana"/>
              </a:rPr>
              <a:t>SCHED_IDLE plus core scheduling protects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Verdana"/>
              </a:rPr>
              <a:t>latency-sensitive work.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3112611" y="17533441"/>
            <a:ext cx="4771355" cy="695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</a:pPr>
            <a:r>
              <a:rPr sz="4139" b="1">
                <a:solidFill>
                  <a:srgbClr val="4B2E83"/>
                </a:solidFill>
                <a:latin typeface="Verdana"/>
              </a:rPr>
              <a:t>Runtime Portfolio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1208761" y="17648316"/>
            <a:ext cx="3906621" cy="43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51"/>
              </a:lnSpc>
              <a:spcBef>
                <a:spcPts val="0"/>
              </a:spcBef>
              <a:spcAft>
                <a:spcPts val="0"/>
              </a:spcAft>
            </a:pPr>
            <a:r>
              <a:rPr sz="2566" b="1" i="1">
                <a:solidFill>
                  <a:srgbClr val="555555"/>
                </a:solidFill>
                <a:latin typeface="Verdana"/>
              </a:rPr>
              <a:t>match isolation to work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39972" y="18171160"/>
            <a:ext cx="10329635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Verdana"/>
              </a:rPr>
              <a:t>Uncontrolled overcommit duplicates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Verdana"/>
              </a:rPr>
              <a:t>memory and harms latency-sensitive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Verdana"/>
              </a:rPr>
              <a:t>agent steps.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271543" y="18335069"/>
            <a:ext cx="13111955" cy="834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50753" indent="-550753">
              <a:lnSpc>
                <a:spcPts val="571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942" b="1">
                <a:solidFill>
                  <a:srgbClr val="111111"/>
                </a:solidFill>
                <a:latin typeface="Verdana"/>
              </a:rPr>
              <a:t>FnCall</a:t>
            </a:r>
            <a:r>
              <a:rPr sz="3942" b="0">
                <a:solidFill>
                  <a:srgbClr val="1C1C1C"/>
                </a:solidFill>
                <a:latin typeface="Verdana"/>
              </a:rPr>
              <a:t> serves short, pre-created execution.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271543" y="19236015"/>
            <a:ext cx="13111955" cy="834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50753" indent="-550753">
              <a:lnSpc>
                <a:spcPts val="571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942" b="1">
                <a:solidFill>
                  <a:srgbClr val="111111"/>
                </a:solidFill>
                <a:latin typeface="Verdana"/>
              </a:rPr>
              <a:t>Containers</a:t>
            </a:r>
            <a:r>
              <a:rPr sz="3942" b="0">
                <a:solidFill>
                  <a:srgbClr val="1C1C1C"/>
                </a:solidFill>
                <a:latin typeface="Verdana"/>
              </a:rPr>
              <a:t> cover broad Linux workloads efficiently.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271543" y="20136961"/>
            <a:ext cx="13111955" cy="1669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50753" indent="-550753">
              <a:lnSpc>
                <a:spcPts val="571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942" b="1">
                <a:solidFill>
                  <a:srgbClr val="111111"/>
                </a:solidFill>
                <a:latin typeface="Verdana"/>
              </a:rPr>
              <a:t>MicroVMs and full VMs</a:t>
            </a:r>
            <a:r>
              <a:rPr sz="3942" b="0">
                <a:solidFill>
                  <a:srgbClr val="1C1C1C"/>
                </a:solidFill>
                <a:latin typeface="Verdana"/>
              </a:rPr>
              <a:t> add stronger isolation and</a:t>
            </a:r>
          </a:p>
          <a:p>
            <a:pPr algn="l" marL="550753" indent="0">
              <a:lnSpc>
                <a:spcPts val="5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942" b="0">
                <a:solidFill>
                  <a:srgbClr val="1C1C1C"/>
                </a:solidFill>
                <a:latin typeface="Verdana"/>
              </a:rPr>
              <a:t>compatibility.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64319" y="20813434"/>
            <a:ext cx="803356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4B2E83"/>
                </a:solidFill>
                <a:latin typeface="Verdana"/>
              </a:rPr>
              <a:t>vs.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112611" y="23670736"/>
            <a:ext cx="3887733" cy="695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</a:pPr>
            <a:r>
              <a:rPr sz="4139" b="1">
                <a:solidFill>
                  <a:srgbClr val="4B2E83"/>
                </a:solidFill>
                <a:latin typeface="Verdana"/>
              </a:rPr>
              <a:t>Elastic Control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2288619" y="23785611"/>
            <a:ext cx="2794367" cy="43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51"/>
              </a:lnSpc>
              <a:spcBef>
                <a:spcPts val="0"/>
              </a:spcBef>
              <a:spcAft>
                <a:spcPts val="0"/>
              </a:spcAft>
            </a:pPr>
            <a:r>
              <a:rPr sz="2566" b="1" i="1">
                <a:solidFill>
                  <a:srgbClr val="555555"/>
                </a:solidFill>
                <a:latin typeface="Verdana"/>
              </a:rPr>
              <a:t>one request path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4326929" y="24787125"/>
            <a:ext cx="515779" cy="834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16"/>
              </a:lnSpc>
              <a:spcBef>
                <a:spcPts val="0"/>
              </a:spcBef>
              <a:spcAft>
                <a:spcPts val="0"/>
              </a:spcAft>
            </a:pPr>
            <a:r>
              <a:rPr sz="3942" b="1">
                <a:solidFill>
                  <a:srgbClr val="4B2E83"/>
                </a:solidFill>
                <a:latin typeface="Verdana"/>
              </a:rPr>
              <a:t>→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7033240" y="24787125"/>
            <a:ext cx="515779" cy="834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16"/>
              </a:lnSpc>
              <a:spcBef>
                <a:spcPts val="0"/>
              </a:spcBef>
              <a:spcAft>
                <a:spcPts val="0"/>
              </a:spcAft>
            </a:pPr>
            <a:r>
              <a:rPr sz="3942" b="1">
                <a:solidFill>
                  <a:srgbClr val="4B2E83"/>
                </a:solidFill>
                <a:latin typeface="Verdana"/>
              </a:rPr>
              <a:t>→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9739411" y="24787125"/>
            <a:ext cx="515779" cy="834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16"/>
              </a:lnSpc>
              <a:spcBef>
                <a:spcPts val="0"/>
              </a:spcBef>
              <a:spcAft>
                <a:spcPts val="0"/>
              </a:spcAft>
            </a:pPr>
            <a:r>
              <a:rPr sz="3942" b="1">
                <a:solidFill>
                  <a:srgbClr val="4B2E83"/>
                </a:solidFill>
                <a:latin typeface="Verdana"/>
              </a:rPr>
              <a:t>→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445583" y="24787125"/>
            <a:ext cx="515779" cy="834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16"/>
              </a:lnSpc>
              <a:spcBef>
                <a:spcPts val="0"/>
              </a:spcBef>
              <a:spcAft>
                <a:spcPts val="0"/>
              </a:spcAft>
            </a:pPr>
            <a:r>
              <a:rPr sz="3942" b="1">
                <a:solidFill>
                  <a:srgbClr val="4B2E83"/>
                </a:solidFill>
                <a:latin typeface="Verdana"/>
              </a:rPr>
              <a:t>→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6365934" y="10207525"/>
            <a:ext cx="2368008" cy="11501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281" b="1">
                <a:solidFill>
                  <a:srgbClr val="1C1C1C"/>
                </a:solidFill>
                <a:latin typeface="Verdana"/>
              </a:rPr>
              <a:t>Fetch on</a:t>
            </a:r>
          </a:p>
          <a:p>
            <a:pPr algn="l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281" b="1">
                <a:solidFill>
                  <a:srgbClr val="1C1C1C"/>
                </a:solidFill>
                <a:latin typeface="Verdana"/>
              </a:rPr>
              <a:t>demand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7415232" y="10457557"/>
            <a:ext cx="1968260" cy="575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281" b="1">
                <a:solidFill>
                  <a:srgbClr val="1C1C1C"/>
                </a:solidFill>
                <a:latin typeface="Verdana"/>
              </a:rPr>
              <a:t>Compose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1890513" y="10457557"/>
            <a:ext cx="1363633" cy="5750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281" b="1">
                <a:solidFill>
                  <a:srgbClr val="1C1C1C"/>
                </a:solidFill>
                <a:latin typeface="Verdana"/>
              </a:rPr>
              <a:t>Mount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383380" y="16590545"/>
            <a:ext cx="5034324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4B2E83"/>
                </a:solidFill>
                <a:latin typeface="Verdana"/>
              </a:rPr>
              <a:t>380K+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0383380" y="17965439"/>
            <a:ext cx="5034324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Verdana"/>
              </a:rPr>
              <a:t>concurrent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Verdana"/>
              </a:rPr>
              <a:t>sandboxes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0743286" y="18575099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4B2E83"/>
                </a:solidFill>
                <a:latin typeface="Verdana"/>
              </a:rPr>
              <a:t>21.2%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5073550" y="18575099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4B2E83"/>
                </a:solidFill>
                <a:latin typeface="Verdana"/>
              </a:rPr>
              <a:t>17.3%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6413023" y="18965009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4B2E83"/>
                </a:solidFill>
                <a:latin typeface="Verdana"/>
              </a:rPr>
              <a:t>40.2%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0383380" y="19008347"/>
            <a:ext cx="5034324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Verdana"/>
              </a:rPr>
              <a:t>production peak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0743286" y="19477295"/>
            <a:ext cx="3762116" cy="896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Verdana"/>
              </a:rPr>
              <a:t>lower integrated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Verdana"/>
              </a:rPr>
              <a:t>memory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5073550" y="19477295"/>
            <a:ext cx="3762116" cy="896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Verdana"/>
              </a:rPr>
              <a:t>latency inflation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Verdana"/>
              </a:rPr>
              <a:t>at 50% load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6413023" y="19867205"/>
            <a:ext cx="376211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Verdana"/>
              </a:rPr>
              <a:t>lower peak memory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283493" y="21030822"/>
            <a:ext cx="4127239" cy="1304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Verdana"/>
              </a:rPr>
              <a:t>EAGER +</a:t>
            </a:r>
          </a:p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Verdana"/>
              </a:rPr>
              <a:t>MONOLITHIC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818074" y="21030822"/>
            <a:ext cx="4127382" cy="652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Verdana"/>
              </a:rPr>
              <a:t>DSEC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818074" y="21676181"/>
            <a:ext cx="4127382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Compose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layers; fetch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only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working set.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83493" y="22243335"/>
            <a:ext cx="4127239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Pull and unpack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every image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Verdana"/>
              </a:rPr>
              <a:t>before work.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0137516" y="27484824"/>
            <a:ext cx="6666936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4B2E83"/>
                </a:solidFill>
                <a:latin typeface="Verdana"/>
              </a:rPr>
              <a:t>Scan to Read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0137516" y="8052395"/>
            <a:ext cx="4266879" cy="650949"/>
          </a:xfrm>
          <a:prstGeom prst="rect">
            <a:avLst/>
          </a:prstGeom>
          <a:noFill/>
        </p:spPr>
        <p:txBody>
          <a:bodyPr wrap="square" lIns="148640" rIns="148640" tIns="65401" bIns="65401">
            <a:spAutoFit/>
          </a:bodyPr>
          <a:lstStyle/>
          <a:p>
            <a:pPr algn="l">
              <a:lnSpc>
                <a:spcPts val="3394"/>
              </a:lnSpc>
              <a:spcBef>
                <a:spcPts val="0"/>
              </a:spcBef>
              <a:spcAft>
                <a:spcPts val="0"/>
              </a:spcAft>
            </a:pPr>
            <a:r>
              <a:rPr sz="2340" b="1" spc="117">
                <a:solidFill>
                  <a:srgbClr val="555555"/>
                </a:solidFill>
                <a:latin typeface="Verdana"/>
              </a:rPr>
              <a:t>IMAGE PATH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4280117" y="8052395"/>
            <a:ext cx="2845158" cy="650949"/>
          </a:xfrm>
          <a:prstGeom prst="rect">
            <a:avLst/>
          </a:prstGeom>
          <a:noFill/>
        </p:spPr>
        <p:txBody>
          <a:bodyPr wrap="square" lIns="148640" rIns="148640" tIns="65401" bIns="65401">
            <a:spAutoFit/>
          </a:bodyPr>
          <a:lstStyle/>
          <a:p>
            <a:pPr algn="l">
              <a:lnSpc>
                <a:spcPts val="3394"/>
              </a:lnSpc>
              <a:spcBef>
                <a:spcPts val="0"/>
              </a:spcBef>
              <a:spcAft>
                <a:spcPts val="0"/>
              </a:spcAft>
            </a:pPr>
            <a:r>
              <a:rPr sz="2340" b="1" spc="117">
                <a:solidFill>
                  <a:srgbClr val="555555"/>
                </a:solidFill>
                <a:latin typeface="Verdana"/>
              </a:rPr>
              <a:t>COMPLETION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7042407" y="8052395"/>
            <a:ext cx="3217578" cy="650949"/>
          </a:xfrm>
          <a:prstGeom prst="rect">
            <a:avLst/>
          </a:prstGeom>
          <a:noFill/>
        </p:spPr>
        <p:txBody>
          <a:bodyPr wrap="square" lIns="148640" rIns="148640" tIns="65401" bIns="65401">
            <a:spAutoFit/>
          </a:bodyPr>
          <a:lstStyle/>
          <a:p>
            <a:pPr algn="l">
              <a:lnSpc>
                <a:spcPts val="3394"/>
              </a:lnSpc>
              <a:spcBef>
                <a:spcPts val="0"/>
              </a:spcBef>
              <a:spcAft>
                <a:spcPts val="0"/>
              </a:spcAft>
            </a:pPr>
            <a:r>
              <a:rPr sz="2340" b="1" spc="117">
                <a:solidFill>
                  <a:srgbClr val="555555"/>
                </a:solidFill>
                <a:latin typeface="Verdana"/>
              </a:rPr>
              <a:t>WRITES / NODE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0137516" y="8618438"/>
            <a:ext cx="4266879" cy="871552"/>
          </a:xfrm>
          <a:prstGeom prst="rect">
            <a:avLst/>
          </a:prstGeom>
          <a:noFill/>
        </p:spPr>
        <p:txBody>
          <a:bodyPr wrap="square" lIns="198187" rIns="198187" tIns="87202" bIns="87202">
            <a:spAutoFit/>
          </a:bodyPr>
          <a:lstStyle/>
          <a:p>
            <a:pPr algn="l">
              <a:lnSpc>
                <a:spcPts val="4525"/>
              </a:lnSpc>
              <a:spcBef>
                <a:spcPts val="0"/>
              </a:spcBef>
              <a:spcAft>
                <a:spcPts val="0"/>
              </a:spcAft>
            </a:pPr>
            <a:r>
              <a:rPr sz="3121" b="0">
                <a:solidFill>
                  <a:srgbClr val="1C1C1C"/>
                </a:solidFill>
                <a:latin typeface="Verdana"/>
              </a:rPr>
              <a:t>Docker · cached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4280117" y="8618438"/>
            <a:ext cx="2845158" cy="871552"/>
          </a:xfrm>
          <a:prstGeom prst="rect">
            <a:avLst/>
          </a:prstGeom>
          <a:noFill/>
        </p:spPr>
        <p:txBody>
          <a:bodyPr wrap="square" lIns="198187" rIns="198187" tIns="87202" bIns="87202">
            <a:spAutoFit/>
          </a:bodyPr>
          <a:lstStyle/>
          <a:p>
            <a:pPr algn="l">
              <a:lnSpc>
                <a:spcPts val="4525"/>
              </a:lnSpc>
              <a:spcBef>
                <a:spcPts val="0"/>
              </a:spcBef>
              <a:spcAft>
                <a:spcPts val="0"/>
              </a:spcAft>
            </a:pPr>
            <a:r>
              <a:rPr sz="3121" b="0">
                <a:solidFill>
                  <a:srgbClr val="1C1C1C"/>
                </a:solidFill>
                <a:latin typeface="Verdana"/>
              </a:rPr>
              <a:t>≈35 min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7042407" y="8618438"/>
            <a:ext cx="3217578" cy="871552"/>
          </a:xfrm>
          <a:prstGeom prst="rect">
            <a:avLst/>
          </a:prstGeom>
          <a:noFill/>
        </p:spPr>
        <p:txBody>
          <a:bodyPr wrap="square" lIns="198187" rIns="198187" tIns="87202" bIns="87202">
            <a:spAutoFit/>
          </a:bodyPr>
          <a:lstStyle/>
          <a:p>
            <a:pPr algn="l">
              <a:lnSpc>
                <a:spcPts val="4525"/>
              </a:lnSpc>
              <a:spcBef>
                <a:spcPts val="0"/>
              </a:spcBef>
              <a:spcAft>
                <a:spcPts val="0"/>
              </a:spcAft>
            </a:pPr>
            <a:r>
              <a:rPr sz="3121" b="0">
                <a:solidFill>
                  <a:srgbClr val="1C1C1C"/>
                </a:solidFill>
                <a:latin typeface="Verdana"/>
              </a:rPr>
              <a:t>≈600 GB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137516" y="9376310"/>
            <a:ext cx="4266879" cy="871553"/>
          </a:xfrm>
          <a:prstGeom prst="rect">
            <a:avLst/>
          </a:prstGeom>
          <a:noFill/>
        </p:spPr>
        <p:txBody>
          <a:bodyPr wrap="square" lIns="198187" rIns="198187" tIns="87202" bIns="87202">
            <a:spAutoFit/>
          </a:bodyPr>
          <a:lstStyle/>
          <a:p>
            <a:pPr algn="l">
              <a:lnSpc>
                <a:spcPts val="4525"/>
              </a:lnSpc>
              <a:spcBef>
                <a:spcPts val="0"/>
              </a:spcBef>
              <a:spcAft>
                <a:spcPts val="0"/>
              </a:spcAft>
            </a:pPr>
            <a:r>
              <a:rPr sz="3121" b="0">
                <a:solidFill>
                  <a:srgbClr val="1C1C1C"/>
                </a:solidFill>
                <a:latin typeface="Verdana"/>
              </a:rPr>
              <a:t>Docker · eager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4280117" y="9376310"/>
            <a:ext cx="2845158" cy="871553"/>
          </a:xfrm>
          <a:prstGeom prst="rect">
            <a:avLst/>
          </a:prstGeom>
          <a:noFill/>
        </p:spPr>
        <p:txBody>
          <a:bodyPr wrap="square" lIns="198187" rIns="198187" tIns="87202" bIns="87202">
            <a:spAutoFit/>
          </a:bodyPr>
          <a:lstStyle/>
          <a:p>
            <a:pPr algn="l">
              <a:lnSpc>
                <a:spcPts val="4525"/>
              </a:lnSpc>
              <a:spcBef>
                <a:spcPts val="0"/>
              </a:spcBef>
              <a:spcAft>
                <a:spcPts val="0"/>
              </a:spcAft>
            </a:pPr>
            <a:r>
              <a:rPr sz="3121" b="0">
                <a:solidFill>
                  <a:srgbClr val="1C1C1C"/>
                </a:solidFill>
                <a:latin typeface="Verdana"/>
              </a:rPr>
              <a:t>&gt;60 min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7042407" y="9376310"/>
            <a:ext cx="3217578" cy="871553"/>
          </a:xfrm>
          <a:prstGeom prst="rect">
            <a:avLst/>
          </a:prstGeom>
          <a:noFill/>
        </p:spPr>
        <p:txBody>
          <a:bodyPr wrap="square" lIns="198187" rIns="198187" tIns="87202" bIns="87202">
            <a:spAutoFit/>
          </a:bodyPr>
          <a:lstStyle/>
          <a:p>
            <a:pPr algn="l">
              <a:lnSpc>
                <a:spcPts val="4525"/>
              </a:lnSpc>
              <a:spcBef>
                <a:spcPts val="0"/>
              </a:spcBef>
              <a:spcAft>
                <a:spcPts val="0"/>
              </a:spcAft>
            </a:pPr>
            <a:r>
              <a:rPr sz="3121" b="0">
                <a:solidFill>
                  <a:srgbClr val="1C1C1C"/>
                </a:solidFill>
                <a:latin typeface="Verdana"/>
              </a:rPr>
              <a:t>&gt;1,600 GB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0137516" y="10134183"/>
            <a:ext cx="4266879" cy="871552"/>
          </a:xfrm>
          <a:prstGeom prst="rect">
            <a:avLst/>
          </a:prstGeom>
          <a:noFill/>
        </p:spPr>
        <p:txBody>
          <a:bodyPr wrap="square" lIns="198187" rIns="198187" tIns="87202" bIns="87202">
            <a:spAutoFit/>
          </a:bodyPr>
          <a:lstStyle/>
          <a:p>
            <a:pPr algn="l">
              <a:lnSpc>
                <a:spcPts val="4525"/>
              </a:lnSpc>
              <a:spcBef>
                <a:spcPts val="0"/>
              </a:spcBef>
              <a:spcAft>
                <a:spcPts val="0"/>
              </a:spcAft>
            </a:pPr>
            <a:r>
              <a:rPr sz="3121" b="1">
                <a:solidFill>
                  <a:srgbClr val="1C1C1C"/>
                </a:solidFill>
                <a:latin typeface="Verdana"/>
              </a:rPr>
              <a:t>DSec · EROFS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4280117" y="10134183"/>
            <a:ext cx="2845158" cy="871552"/>
          </a:xfrm>
          <a:prstGeom prst="rect">
            <a:avLst/>
          </a:prstGeom>
          <a:noFill/>
        </p:spPr>
        <p:txBody>
          <a:bodyPr wrap="square" lIns="198187" rIns="198187" tIns="87202" bIns="87202">
            <a:spAutoFit/>
          </a:bodyPr>
          <a:lstStyle/>
          <a:p>
            <a:pPr algn="l">
              <a:lnSpc>
                <a:spcPts val="4525"/>
              </a:lnSpc>
              <a:spcBef>
                <a:spcPts val="0"/>
              </a:spcBef>
              <a:spcAft>
                <a:spcPts val="0"/>
              </a:spcAft>
            </a:pPr>
            <a:r>
              <a:rPr sz="3121" b="1">
                <a:solidFill>
                  <a:srgbClr val="1C1C1C"/>
                </a:solidFill>
                <a:latin typeface="Verdana"/>
              </a:rPr>
              <a:t>≈35 min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7042407" y="10134183"/>
            <a:ext cx="3217578" cy="871552"/>
          </a:xfrm>
          <a:prstGeom prst="rect">
            <a:avLst/>
          </a:prstGeom>
          <a:noFill/>
        </p:spPr>
        <p:txBody>
          <a:bodyPr wrap="square" lIns="198187" rIns="198187" tIns="87202" bIns="87202">
            <a:spAutoFit/>
          </a:bodyPr>
          <a:lstStyle/>
          <a:p>
            <a:pPr algn="l">
              <a:lnSpc>
                <a:spcPts val="4525"/>
              </a:lnSpc>
              <a:spcBef>
                <a:spcPts val="0"/>
              </a:spcBef>
              <a:spcAft>
                <a:spcPts val="0"/>
              </a:spcAft>
            </a:pPr>
            <a:r>
              <a:rPr sz="3121" b="1">
                <a:solidFill>
                  <a:srgbClr val="1C1C1C"/>
                </a:solidFill>
                <a:latin typeface="Verdana"/>
              </a:rPr>
              <a:t>≈700 GB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6103817" y="16304398"/>
            <a:ext cx="151514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Verdana"/>
              </a:rPr>
              <a:t>5K+/s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7719019" y="16446638"/>
            <a:ext cx="2267427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Verdana"/>
              </a:rPr>
              <a:t>sandbox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Verdana"/>
              </a:rPr>
              <a:t>creations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6103817" y="17506076"/>
            <a:ext cx="19970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Verdana"/>
              </a:rPr>
              <a:t>3M/day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8186855" y="17648316"/>
            <a:ext cx="181932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Verdana"/>
              </a:rPr>
              <a:t>sandboxes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Verdana"/>
              </a:rPr>
              <a:t>served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6103817" y="18707754"/>
            <a:ext cx="153317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Verdana"/>
              </a:rPr>
              <a:t>≈160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7736521" y="18849994"/>
            <a:ext cx="2249400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Verdana"/>
              </a:rPr>
              <a:t>nodes per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Verdana"/>
              </a:rPr>
              <a:t>unit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6204525" y="20436720"/>
            <a:ext cx="4279611" cy="143192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Verdana"/>
              </a:rPr>
              <a:t>MECHANISM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0359488" y="20436720"/>
            <a:ext cx="4342135" cy="143192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Verdana"/>
              </a:rPr>
              <a:t>PRESSURE</a:t>
            </a:r>
          </a:p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Verdana"/>
              </a:rPr>
              <a:t>CONTROLLED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4575154" y="20436720"/>
            <a:ext cx="4490217" cy="143192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Verdana"/>
              </a:rPr>
              <a:t>MEASURED</a:t>
            </a:r>
          </a:p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Verdana"/>
              </a:rPr>
              <a:t>OUTCOME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6204525" y="21681876"/>
            <a:ext cx="4279611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virtio-pmem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0359488" y="21681876"/>
            <a:ext cx="4342135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Duplicate page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cache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4575154" y="21681876"/>
            <a:ext cx="4490217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−40.2% peak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memory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6204525" y="23345417"/>
            <a:ext cx="4279611" cy="2739259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DAMON + FPR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0359488" y="23345417"/>
            <a:ext cx="4342135" cy="2739259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Idle guest pages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4575154" y="23345417"/>
            <a:ext cx="4490217" cy="2739259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−21.2%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integrated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Verdana"/>
              </a:rPr>
              <a:t>memory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6204525" y="25727382"/>
            <a:ext cx="4279611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Verdana"/>
              </a:rPr>
              <a:t>SCHED_IDLE +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Verdana"/>
              </a:rPr>
              <a:t>core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0359488" y="25727382"/>
            <a:ext cx="4342135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Verdana"/>
              </a:rPr>
              <a:t>SMT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Verdana"/>
              </a:rPr>
              <a:t>interference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4575154" y="25727382"/>
            <a:ext cx="4490217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Verdana"/>
              </a:rPr>
              <a:t>17.3% vs 45.2%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