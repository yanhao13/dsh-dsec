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6] SYSTEMS RESEARCH · AGENTIC TRAINING</a:t>
            </a:r>
            <a:endParaRPr lang="en-US" dirty="0"/>
          </a:p>
          <a:p>
            <a:r>
              <a:rPr lang="en-US" dirty="0"/>
              <a:t>DeepSeek Elastic Compute, or DSec, is a production sandbox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11] 380K+</a:t>
            </a:r>
            <a:endParaRPr lang="en-US" dirty="0"/>
          </a:p>
          <a:p>
            <a:r>
              <a:rPr lang="en-US" dirty="0"/>
              <a:t>infrastructure built for large-scale agentic training and evaluation.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19] ONE SDK</a:t>
            </a:r>
            <a:endParaRPr lang="en-US" dirty="0"/>
          </a:p>
          <a:p>
            <a:r>
              <a:rPr lang="en-US" dirty="0"/>
              <a:t>It unifies several isolation backends while scaling stateful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23] DeepSeek-AI · Tsinghua University</a:t>
            </a:r>
            <a:endParaRPr lang="en-US" dirty="0"/>
          </a:p>
          <a:p>
            <a:r>
              <a:rPr lang="en-US" dirty="0"/>
              <a:t>execution to hundreds of thousands of concurrent sandboxes.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12] Bursty creation</a:t>
            </a:r>
            <a:endParaRPr lang="en-US" dirty="0"/>
          </a:p>
          <a:p>
            <a:r>
              <a:rPr lang="en-US" dirty="0"/>
              <a:t>Agentic models repeatedly inspect repositories, run tools, and preserve state across long interactions. This creates bursty demand, heterogeneous isolation requirements, and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16] Representative sandbox execution: setup → tool calls → test</a:t>
            </a:r>
            <a:endParaRPr lang="en-US" dirty="0"/>
          </a:p>
          <a:p>
            <a:r>
              <a:rPr lang="en-US" dirty="0"/>
              <a:t>resource footprints that persist even while CPUs are idle. A scalable platform must therefore coordinate much more than one sandbox runtime.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11] Isolation varies</a:t>
            </a:r>
            <a:endParaRPr lang="en-US" dirty="0"/>
          </a:p>
          <a:p>
            <a:r>
              <a:rPr lang="en-US" dirty="0"/>
              <a:t>Traditional container assumptions break under agentic workloads. Images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18] Images fan out sparsely</a:t>
            </a:r>
            <a:endParaRPr lang="en-US" dirty="0"/>
          </a:p>
          <a:p>
            <a:r>
              <a:rPr lang="en-US" dirty="0"/>
              <a:t>are large and reused sparsely, setup arrives in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26] Idle state stays resident</a:t>
            </a:r>
            <a:endParaRPr lang="en-US" dirty="0"/>
          </a:p>
          <a:p>
            <a:r>
              <a:rPr lang="en-US" dirty="0"/>
              <a:t>bursts, and long-lived state keeps memory resident. At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41] Neighbors interfere</a:t>
            </a:r>
            <a:endParaRPr lang="en-US" dirty="0"/>
          </a:p>
          <a:p>
            <a:r>
              <a:rPr lang="en-US" dirty="0"/>
              <a:t>the same time, best-effort tasks can interfere with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45] THE REQUIREMENT</a:t>
            </a:r>
            <a:endParaRPr lang="en-US" dirty="0"/>
          </a:p>
          <a:p>
            <a:r>
              <a:rPr lang="en-US" dirty="0"/>
              <a:t>latency-sensitive agents unless the platform controls co-location explicitly.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15] Route each job</a:t>
            </a:r>
            <a:endParaRPr lang="en-US" dirty="0"/>
          </a:p>
          <a:p>
            <a:r>
              <a:rPr lang="en-US" dirty="0"/>
              <a:t>DSec combines multiple isolation backends behind one interface. It coordinates scheduling and lifecycle management across the cluster, composes immutable environment layers, and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18] Group 18</a:t>
            </a:r>
            <a:endParaRPr lang="en-US" dirty="0"/>
          </a:p>
          <a:p>
            <a:r>
              <a:rPr lang="en-US" dirty="0"/>
              <a:t>uses memory reclamation plus CPU quality-of-service controls. It also integrates with the reinforcement-learning framework so long-running rollouts can survive preemption safely.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8] 01 · STORAGE</a:t>
            </a:r>
            <a:endParaRPr lang="en-US" dirty="0"/>
          </a:p>
          <a:p>
            <a:r>
              <a:rPr lang="en-US" dirty="0"/>
              <a:t>The architecture separates a cluster-level control plane from node-local edge proxies and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12] 02 · MEMORY</a:t>
            </a:r>
            <a:endParaRPr lang="en-US" dirty="0"/>
          </a:p>
          <a:p>
            <a:r>
              <a:rPr lang="en-US" dirty="0"/>
              <a:t>runtime-specific executors. Environments are assembled from independently versioned EROFS layers, with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16] 03 · CPU QOS</a:t>
            </a:r>
            <a:endParaRPr lang="en-US" dirty="0"/>
          </a:p>
          <a:p>
            <a:r>
              <a:rPr lang="en-US" dirty="0"/>
              <a:t>data loaded on demand from 3FS. For dense microVM hosting, DSec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19] Group 19</a:t>
            </a:r>
            <a:endParaRPr lang="en-US" dirty="0"/>
          </a:p>
          <a:p>
            <a:r>
              <a:rPr lang="en-US" dirty="0"/>
              <a:t>combines shared read-only mappings, active memory reclamation, and two-level CPU scheduling.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10] Can setup absorb a burst?</a:t>
            </a:r>
            <a:endParaRPr lang="en-US" dirty="0"/>
          </a:p>
          <a:p>
            <a:r>
              <a:rPr lang="en-US" dirty="0"/>
              <a:t>The evaluation is grounded in production traces and real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18] Layers instead of extraction?</a:t>
            </a:r>
            <a:endParaRPr lang="en-US" dirty="0"/>
          </a:p>
          <a:p>
            <a:r>
              <a:rPr lang="en-US" dirty="0"/>
              <a:t>agentic workloads. It measures image distribution, environment provisioning, memory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27] Can hosts overcommit memory?</a:t>
            </a:r>
            <a:endParaRPr lang="en-US" dirty="0"/>
          </a:p>
          <a:p>
            <a:r>
              <a:rPr lang="en-US" dirty="0"/>
              <a:t>under overcommit, and CPU interference. Public workloads include SWE-bench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43] Can sharing preserve latency?</a:t>
            </a:r>
            <a:endParaRPr lang="en-US" dirty="0"/>
          </a:p>
          <a:p>
            <a:r>
              <a:rPr lang="en-US" dirty="0"/>
              <a:t>and Terminal-Bench alongside internal software-engineering and security tasks.</a:t>
            </a: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16] BURST SETUP</a:t>
            </a:r>
            <a:endParaRPr lang="en-US" dirty="0"/>
          </a:p>
          <a:p>
            <a:r>
              <a:rPr lang="en-US" dirty="0"/>
              <a:t>On-demand EROFS avoids downloading and unpacking entire images before work begins. In the 8,192-container burst, it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20] 8,192-container burst across 10 nodes</a:t>
            </a:r>
            <a:endParaRPr lang="en-US" dirty="0"/>
          </a:p>
          <a:p>
            <a:r>
              <a:rPr lang="en-US" dirty="0"/>
              <a:t>finishes in about thirty-five minutes, matching the fully local baseline, while eager pulling needs more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26] MOUNT, DON’T EXTRACT</a:t>
            </a:r>
            <a:endParaRPr lang="en-US" dirty="0"/>
          </a:p>
          <a:p>
            <a:r>
              <a:rPr lang="en-US" dirty="0"/>
              <a:t>than sixty minutes. Composable mounted layers also reduce provisioning time from seventy-nine to forty-five minutes.</a:t>
            </a: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11] MEMORY</a:t>
            </a:r>
            <a:endParaRPr lang="en-US" dirty="0"/>
          </a:p>
          <a:p>
            <a:r>
              <a:rPr lang="en-US" dirty="0"/>
              <a:t>The component comparisons show complementary effects. Shared virtio-pmem mappings reduce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14] Group 14</a:t>
            </a:r>
            <a:endParaRPr lang="en-US" dirty="0"/>
          </a:p>
          <a:p>
            <a:r>
              <a:rPr lang="en-US" dirty="0"/>
              <a:t>peak host memory, while free-page reporting recovers idle guest memory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20] CPU INTERFERENCE · 50% BE LOAD</a:t>
            </a:r>
            <a:endParaRPr lang="en-US" dirty="0"/>
          </a:p>
          <a:p>
            <a:r>
              <a:rPr lang="en-US" dirty="0"/>
              <a:t>over time. For CPU isolation, SCHED_IDLE alone is insufficient, but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23] Group 23</a:t>
            </a:r>
            <a:endParaRPr lang="en-US" dirty="0"/>
          </a:p>
          <a:p>
            <a:r>
              <a:rPr lang="en-US" dirty="0"/>
              <a:t>combining it with core scheduling substantially limits latency inflation.</a:t>
            </a:r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10] 380K+</a:t>
            </a:r>
            <a:endParaRPr lang="en-US" dirty="0"/>
          </a:p>
          <a:p>
            <a:r>
              <a:rPr lang="en-US" dirty="0"/>
              <a:t>At production scale, DSec supports more than three hundred eighty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16] 5K+</a:t>
            </a:r>
            <a:endParaRPr lang="en-US" dirty="0"/>
          </a:p>
          <a:p>
            <a:r>
              <a:rPr lang="en-US" dirty="0"/>
              <a:t>thousand concurrent sandboxes and over five thousand creations per second.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22] ≈3M</a:t>
            </a:r>
            <a:endParaRPr lang="en-US" dirty="0"/>
          </a:p>
          <a:p>
            <a:r>
              <a:rPr lang="en-US" dirty="0"/>
              <a:t>One production unit spans roughly one hundred sixty nodes and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28] ≈160</a:t>
            </a:r>
            <a:endParaRPr lang="en-US" dirty="0"/>
          </a:p>
          <a:p>
            <a:r>
              <a:rPr lang="en-US" dirty="0"/>
              <a:t>serves about three million sandboxes each day. Individual nodes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32] FROM NODE DENSITY TO FLEET ELASTICITY</a:t>
            </a:r>
            <a:endParaRPr lang="en-US" dirty="0"/>
          </a:p>
          <a:p>
            <a:r>
              <a:rPr lang="en-US" dirty="0"/>
              <a:t>can host thousands of containers or hundreds of microVMs.</a:t>
            </a: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## [Group 8] Elastic execution, not merely faster containers.</a:t>
            </a:r>
            <a:endParaRPr lang="en-US" dirty="0"/>
          </a:p>
          <a:p>
            <a:r>
              <a:rPr lang="en-US" dirty="0"/>
              <a:t>The central lesson is that agentic training needs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14] Match isolation</a:t>
            </a:r>
            <a:endParaRPr lang="en-US" dirty="0"/>
          </a:p>
          <a:p>
            <a:r>
              <a:rPr lang="en-US" dirty="0"/>
              <a:t>an elastic execution platform, not merely faster containers.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20] Compose layers</a:t>
            </a:r>
            <a:endParaRPr lang="en-US" dirty="0"/>
          </a:p>
          <a:p>
            <a:r>
              <a:rPr lang="en-US" dirty="0"/>
              <a:t>DSec scales by matching isolation to each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27] Load on demand</a:t>
            </a:r>
            <a:endParaRPr lang="en-US" dirty="0"/>
          </a:p>
          <a:p>
            <a:r>
              <a:rPr lang="en-US" dirty="0"/>
              <a:t>workload, loading data only when needed, preserving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41] Coordinate resources</a:t>
            </a:r>
            <a:endParaRPr lang="en-US" dirty="0"/>
          </a:p>
          <a:p>
            <a:r>
              <a:rPr lang="en-US" dirty="0"/>
              <a:t>state across the training lifecycle, and coordinating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## [Group 47] DeepSeek Elastic Compute · arXiv:2609.22978</a:t>
            </a:r>
            <a:endParaRPr lang="en-US" dirty="0"/>
          </a:p>
          <a:p>
            <a:r>
              <a:rPr lang="en-US" dirty="0"/>
              <a:t>memory and CPU controls across dense clusters.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ec_vide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ec_vide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a5d2ff8c9fb4e7.png"/>
  <Relationship Id="rId3" Type="http://schemas.openxmlformats.org/officeDocument/2006/relationships/image" Target="../media/image_d781d43d8ee7f32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0bfbdbf7848e32e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5ca1a2401e340d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270997051d66226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12e82c95ecc238.png"/>
  <Relationship Id="rId3" Type="http://schemas.openxmlformats.org/officeDocument/2006/relationships/image" Target="../media/image_ae4bb67459e9d7aa.pn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ff4a277a0e17987.png"/>
  <Relationship Id="rId3" Type="http://schemas.openxmlformats.org/officeDocument/2006/relationships/image" Target="../media/image_ce091e9adb1a9ac6.pn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a5d2ff8c9fb4e7.png"/>
  <Relationship Id="rId3" Type="http://schemas.openxmlformats.org/officeDocument/2006/relationships/image" Target="../media/image_1466075ea29d0684.png"/>
  <Relationship Id="rId4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 descr="## [Group 6] SYSTEMS RESEARCH · AGENTIC TRAINING&#10;DeepSeek Elastic Compute, or DSec, is a production sandbox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7d98346bc6d284dc340890a9bb594f102778e4caf9c13d2e4211ea58a0d96938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SYSTEMS RESEARCH · AGENTIC TRAINING</p2vs:concise>
                  <p2vs:detailed>DeepSeek Elastic Compute, or DSec, is a production sandbox</p2vs:detailed>
                </p2vs:blockSemantics>
              </a:ext>
            </a:extLst>
          </p:cNvPr>
          <p:cNvGrpSpPr/>
          <p:nvPr/>
        </p:nvGrpSpPr>
        <p:grpSpPr>
          <a:xfrm>
            <a:off x="590550" y="552450"/>
            <a:ext cx="7930636" cy="1878521"/>
            <a:chOff x="590550" y="552450"/>
            <a:chExt cx="7930636" cy="1878521"/>
          </a:xfrm>
        </p:grpSpPr>
        <p:sp>
          <p:nvSpPr>
            <p:cNvPr id="2" name="Rectangle 2"/>
            <p:cNvSpPr/>
            <p:nvPr/>
          </p:nvSpPr>
          <p:spPr>
            <a:xfrm>
              <a:off x="609600" y="552450"/>
              <a:ext cx="8001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218" y="831532"/>
              <a:ext cx="51040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SYSTEMS RESEARCH · AGENTIC TRAINING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1255395"/>
              <a:ext cx="694418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DeepSeek Elastic Compute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5122" y="1873568"/>
              <a:ext cx="79260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Elastic execution, not faster containers.</a:t>
              </a:r>
            </a:p>
          </p:txBody>
        </p:sp>
      </p:grpSp>
      <p:grpSp>
        <p:nvGrpSpPr>
          <p:cNvPr id="11" name="Group 11" descr="## [Group 11] 380K+&#10;infrastructure built for large-scale agentic training and evaluation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41f3641b0d206e688f5f9a48ed4eca2430ec91d8c58b60f19013fc2b8167928e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380K+</p2vs:concise>
                  <p2vs:detailed>infrastructure built for large-scale agentic training and evaluation.</p2vs:detailed>
                </p2vs:blockSemantics>
              </a:ext>
            </a:extLst>
          </p:cNvPr>
          <p:cNvGrpSpPr/>
          <p:nvPr/>
        </p:nvGrpSpPr>
        <p:grpSpPr>
          <a:xfrm>
            <a:off x="590550" y="3042285"/>
            <a:ext cx="5898394" cy="2141030"/>
            <a:chOff x="590550" y="3042285"/>
            <a:chExt cx="5898394" cy="2141030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3042285"/>
              <a:ext cx="3611347" cy="167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70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</a:rPr>
                <a:t>380K+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3608" y="4179570"/>
              <a:ext cx="36712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concurrent sandboxes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4686300"/>
              <a:ext cx="4248150" cy="9525"/>
            </a:xfrm>
            <a:custGeom>
              <a:avLst/>
              <a:gdLst/>
              <a:ahLst/>
              <a:cxnLst/>
              <a:rect l="l" t="t" r="r" b="b"/>
              <a:pathLst>
                <a:path w="4248150" h="9525">
                  <a:moveTo>
                    <a:pt x="0" y="0"/>
                  </a:moveTo>
                  <a:lnTo>
                    <a:pt x="42481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1218" y="4860608"/>
              <a:ext cx="58877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Production infrastructure for training and evaluation</a:t>
              </a:r>
            </a:p>
          </p:txBody>
        </p:sp>
      </p:grpSp>
      <p:grpSp>
        <p:nvGrpSpPr>
          <p:cNvPr id="19" name="Group 19" descr="## [Group 19] ONE SDK&#10;It unifies several isolation backends while scaling stateful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ad59e9d096ca954722d2215330963f37d1c8fa26afac52161d3cbee3903db336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ONE SDK</p2vs:concise>
                  <p2vs:detailed>It unifies several isolation backends while scaling stateful</p2vs:detailed>
                </p2vs:blockSemantics>
              </a:ext>
            </a:extLst>
          </p:cNvPr>
          <p:cNvGrpSpPr/>
          <p:nvPr/>
        </p:nvGrpSpPr>
        <p:grpSpPr>
          <a:xfrm>
            <a:off x="6191250" y="3333750"/>
            <a:ext cx="5391150" cy="1295400"/>
            <a:chOff x="6191250" y="3333750"/>
            <a:chExt cx="5391150" cy="1295400"/>
          </a:xfrm>
        </p:grpSpPr>
        <p:sp>
          <p:nvSpPr>
            <p:cNvPr id="12" name="Freeform 12"/>
            <p:cNvSpPr/>
            <p:nvPr/>
          </p:nvSpPr>
          <p:spPr>
            <a:xfrm>
              <a:off x="6191250" y="3333750"/>
              <a:ext cx="5391150" cy="1295400"/>
            </a:xfrm>
            <a:custGeom>
              <a:avLst/>
              <a:gdLst/>
              <a:ahLst/>
              <a:cxnLst/>
              <a:rect l="l" t="t" r="r" b="b"/>
              <a:pathLst>
                <a:path w="5391150" h="1295400">
                  <a:moveTo>
                    <a:pt x="0" y="0"/>
                  </a:moveTo>
                  <a:lnTo>
                    <a:pt x="5391150" y="0"/>
                  </a:lnTo>
                  <a:lnTo>
                    <a:pt x="5391150" y="129540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68618" y="3536632"/>
              <a:ext cx="953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ONE SDK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477000" y="39052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67856" y="4139565"/>
              <a:ext cx="7441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</a:rPr>
                <a:t>FnCall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96606" y="4139565"/>
              <a:ext cx="1361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</a:rPr>
                <a:t>Containers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553956" y="4139565"/>
              <a:ext cx="11923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</a:rPr>
                <a:t>microVMs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71775" y="4139565"/>
              <a:ext cx="5067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</a:rPr>
                <a:t>VMs</a:t>
              </a:r>
            </a:p>
          </p:txBody>
        </p:sp>
      </p:grpSp>
      <p:grpSp>
        <p:nvGrpSpPr>
          <p:cNvPr id="23" name="Group 23" descr="## [Group 23] DeepSeek-AI · Tsinghua University&#10;execution to hundreds of thousands of concurrent sandboxes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2da79a43bc55b901442876b8cf1e6432cd4dc740e49fd9347ec1ea80472e9523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DeepSeek-AI · Tsinghua University</p2vs:concise>
                  <p2vs:detailed>execution to hundreds of thousands of concurrent sandboxes.</p2vs:detailed>
                </p2vs:blockSemantics>
              </a:ext>
            </a:extLst>
          </p:cNvPr>
          <p:cNvGrpSpPr/>
          <p:nvPr/>
        </p:nvGrpSpPr>
        <p:grpSpPr>
          <a:xfrm>
            <a:off x="609600" y="5715000"/>
            <a:ext cx="10439400" cy="704850"/>
            <a:chOff x="609600" y="5715000"/>
            <a:chExt cx="10439400" cy="704850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5810250"/>
              <a:ext cx="2381250" cy="504825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44150" y="5715000"/>
              <a:ext cx="704850" cy="70485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6382066" y="5965508"/>
              <a:ext cx="37037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DeepSeek-AI · Tsinghua University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0550" y="507682"/>
            <a:ext cx="10419602" cy="1033463"/>
            <a:chOff x="590550" y="507682"/>
            <a:chExt cx="10419602" cy="1033463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507682"/>
              <a:ext cx="28137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</a:rPr>
                <a:t>01 · WORKLOAD TENSION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779145"/>
              <a:ext cx="1041960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CPU goes idle. The state does not.</a:t>
              </a:r>
            </a:p>
          </p:txBody>
        </p:sp>
      </p:grpSp>
      <p:grpSp>
        <p:nvGrpSpPr>
          <p:cNvPr id="12" name="Group 12" descr="## [Group 12] Bursty creation&#10;Agentic models repeatedly inspect repositories, run tools, and preserve state across long interactions. This creates bursty demand, heterogeneous isolation requirements, and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89ca835f0a87bae3f0e18425fe4b15762cbc92ef58c2b47ca8762aa4cb94bd62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Bursty creation</p2vs:concise>
                  <p2vs:detailed>Agentic models repeatedly inspect repositories, run tools, and preserve state across long interactions. This creates bursty demand, heterogeneous isolation requirements, and</p2vs:detailed>
                </p2vs:blockSemantics>
              </a:ext>
            </a:extLst>
          </p:cNvPr>
          <p:cNvGrpSpPr/>
          <p:nvPr/>
        </p:nvGrpSpPr>
        <p:grpSpPr>
          <a:xfrm>
            <a:off x="609600" y="1733550"/>
            <a:ext cx="4166962" cy="3714750"/>
            <a:chOff x="609600" y="1733550"/>
            <a:chExt cx="4166962" cy="3714750"/>
          </a:xfrm>
        </p:grpSpPr>
        <p:sp>
          <p:nvSpPr>
            <p:cNvPr id="5" name="Line 5"/>
            <p:cNvSpPr/>
            <p:nvPr/>
          </p:nvSpPr>
          <p:spPr>
            <a:xfrm>
              <a:off x="609600" y="1733550"/>
              <a:ext cx="9525" cy="3714750"/>
            </a:xfrm>
            <a:custGeom>
              <a:avLst/>
              <a:gdLst/>
              <a:ahLst/>
              <a:cxnLst/>
              <a:rect l="l" t="t" r="r" b="b"/>
              <a:pathLst>
                <a:path w="9525" h="3714750">
                  <a:moveTo>
                    <a:pt x="0" y="0"/>
                  </a:moveTo>
                  <a:lnTo>
                    <a:pt x="0" y="3714750"/>
                  </a:lnTo>
                </a:path>
              </a:pathLst>
            </a:custGeom>
            <a:noFill/>
            <a:ln w="571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3158" y="1950720"/>
              <a:ext cx="266414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Bursty creation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86968" y="2393632"/>
              <a:ext cx="3536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 to 32,000 sandboxes per task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3158" y="3017520"/>
              <a:ext cx="36480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Intermittent compute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6968" y="3460432"/>
              <a:ext cx="28672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calls spike, then wait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3158" y="4084320"/>
              <a:ext cx="28507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Persistent state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7730" y="4543425"/>
              <a:ext cx="3888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Memory and filesystem remain resident</a:t>
              </a:r>
            </a:p>
          </p:txBody>
        </p:sp>
      </p:grpSp>
      <p:grpSp>
        <p:nvGrpSpPr>
          <p:cNvPr id="16" name="Group 16" descr="## [Group 16] Representative sandbox execution: setup → tool calls → test&#10;resource footprints that persist even while CPUs are idle. A scalable platform must therefore coordinate much more than one sandbox runtime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dd8ed26e8bced5efe65f1255016a5b8698694898d5f51b4ab6ebacf3e0de22f0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Representative sandbox execution: setup → tool calls → test</p2vs:concise>
                  <p2vs:detailed>resource footprints that persist even while CPUs are idle. A scalable platform must therefore coordinate much more than one sandbox runtime.</p2vs:detailed>
                </p2vs:blockSemantics>
              </a:ext>
            </a:extLst>
          </p:cNvPr>
          <p:cNvGrpSpPr/>
          <p:nvPr/>
        </p:nvGrpSpPr>
        <p:grpSpPr>
          <a:xfrm>
            <a:off x="4754118" y="1600200"/>
            <a:ext cx="6828282" cy="4564189"/>
            <a:chOff x="4754118" y="1600200"/>
            <a:chExt cx="6828282" cy="4564189"/>
          </a:xfrm>
        </p:grpSpPr>
        <p:sp>
          <p:nvSpPr>
            <p:cNvPr id="13" name="Rectangle 13"/>
            <p:cNvSpPr/>
            <p:nvPr/>
          </p:nvSpPr>
          <p:spPr>
            <a:xfrm>
              <a:off x="4762500" y="1600200"/>
              <a:ext cx="6819900" cy="4095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7F3D0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3950" y="1771650"/>
              <a:ext cx="6477000" cy="375285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4754118" y="5841682"/>
              <a:ext cx="65104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Representative sandbox execution: setup → tool calls → test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1218" y="6229350"/>
            <a:ext cx="10981182" cy="420815"/>
            <a:chOff x="601218" y="6229350"/>
            <a:chExt cx="10981182" cy="420815"/>
          </a:xfrm>
        </p:grpSpPr>
        <p:sp>
          <p:nvSpPr>
            <p:cNvPr id="17" name="Line 1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86EFA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1218" y="6327458"/>
              <a:ext cx="69877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3"/>
                  </a:solidFill>
                  <a:latin typeface="Courier New"/>
                  <a:ea typeface="Courier New"/>
                  <a:cs typeface="Courier New"/>
                </a:rPr>
                <a:t>State retention constrains density even when CPU demand falls.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0550" y="507682"/>
            <a:ext cx="11411612" cy="1033463"/>
            <a:chOff x="590550" y="507682"/>
            <a:chExt cx="11411612" cy="1033463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507682"/>
              <a:ext cx="37748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</a:rPr>
                <a:t>02 · WHY THE OLD MODEL BREAKS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779145"/>
              <a:ext cx="1141161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Four pressures collide at production scale</a:t>
              </a:r>
            </a:p>
          </p:txBody>
        </p:sp>
      </p:grpSp>
      <p:grpSp>
        <p:nvGrpSpPr>
          <p:cNvPr id="11" name="Group 11" descr="## [Group 11] Isolation varies&#10;Traditional container assumptions break under agentic workloads. Images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dc4c24814770da89bb3b480f7e33f48867d94f89d3b1c959e01c802f954ceb58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Isolation varies</p2vs:concise>
                  <p2vs:detailed>Traditional container assumptions break under agentic workloads. Images</p2vs:detailed>
                </p2vs:blockSemantics>
              </a:ext>
            </a:extLst>
          </p:cNvPr>
          <p:cNvGrpSpPr/>
          <p:nvPr/>
        </p:nvGrpSpPr>
        <p:grpSpPr>
          <a:xfrm>
            <a:off x="609600" y="1752600"/>
            <a:ext cx="5341687" cy="1104900"/>
            <a:chOff x="609600" y="1752600"/>
            <a:chExt cx="5341687" cy="1104900"/>
          </a:xfrm>
        </p:grpSpPr>
        <p:sp>
          <p:nvSpPr>
            <p:cNvPr id="5" name="Rectangle 5"/>
            <p:cNvSpPr/>
            <p:nvPr/>
          </p:nvSpPr>
          <p:spPr>
            <a:xfrm>
              <a:off x="609600" y="1752600"/>
              <a:ext cx="4953000" cy="110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869641" y="2095500"/>
              <a:ext cx="372013" cy="342900"/>
              <a:chOff x="869641" y="2095500"/>
              <a:chExt cx="372013" cy="3429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69641" y="2095500"/>
                <a:ext cx="372013" cy="339966"/>
              </a:xfrm>
              <a:custGeom>
                <a:avLst/>
                <a:gdLst/>
                <a:ahLst/>
                <a:cxnLst/>
                <a:rect l="l" t="t" r="r" b="b"/>
                <a:pathLst>
                  <a:path w="372013" h="339966">
                    <a:moveTo>
                      <a:pt x="186872" y="339966"/>
                    </a:moveTo>
                    <a:cubicBezTo>
                      <a:pt x="67532" y="302974"/>
                      <a:pt x="0" y="177021"/>
                      <a:pt x="35234" y="57150"/>
                    </a:cubicBezTo>
                    <a:cubicBezTo>
                      <a:pt x="94585" y="59866"/>
                      <a:pt x="152661" y="39368"/>
                      <a:pt x="197159" y="0"/>
                    </a:cubicBezTo>
                    <a:cubicBezTo>
                      <a:pt x="241657" y="39368"/>
                      <a:pt x="299733" y="59866"/>
                      <a:pt x="359084" y="57150"/>
                    </a:cubicBezTo>
                    <a:cubicBezTo>
                      <a:pt x="372013" y="101139"/>
                      <a:pt x="371415" y="147998"/>
                      <a:pt x="357369" y="191643"/>
                    </a:cubicBez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23950" y="23622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492758" y="1912620"/>
              <a:ext cx="25953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Isolation varies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97330" y="2371725"/>
              <a:ext cx="44539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Functions → containers → microVMs → full VMs</a:t>
              </a:r>
            </a:p>
          </p:txBody>
        </p:sp>
      </p:grpSp>
      <p:grpSp>
        <p:nvGrpSpPr>
          <p:cNvPr id="18" name="Group 18" descr="## [Group 18] Images fan out sparsely&#10;are large and reused sparsely, setup arrives in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fc5ad838019967a33bcee7fd2aff9a776d6f74cffcf68dfa4df0f317316abf4f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Images fan out sparsely</p2vs:concise>
                  <p2vs:detailed>are large and reused sparsely, setup arrives in</p2vs:detailed>
                </p2vs:blockSemantics>
              </a:ext>
            </a:extLst>
          </p:cNvPr>
          <p:cNvGrpSpPr/>
          <p:nvPr/>
        </p:nvGrpSpPr>
        <p:grpSpPr>
          <a:xfrm>
            <a:off x="6629400" y="1752600"/>
            <a:ext cx="5119651" cy="1104900"/>
            <a:chOff x="6629400" y="1752600"/>
            <a:chExt cx="5119651" cy="1104900"/>
          </a:xfrm>
        </p:grpSpPr>
        <p:sp>
          <p:nvSpPr>
            <p:cNvPr id="12" name="Rectangle 12"/>
            <p:cNvSpPr/>
            <p:nvPr/>
          </p:nvSpPr>
          <p:spPr>
            <a:xfrm>
              <a:off x="6629400" y="1752600"/>
              <a:ext cx="4953000" cy="11049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7F3D0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6934187" y="2114550"/>
              <a:ext cx="304813" cy="304800"/>
              <a:chOff x="6934187" y="2114550"/>
              <a:chExt cx="304813" cy="304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010400" y="21907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09550" y="5105"/>
                    </a:moveTo>
                    <a:cubicBezTo>
                      <a:pt x="221338" y="11911"/>
                      <a:pt x="228600" y="24489"/>
                      <a:pt x="228600" y="38100"/>
                    </a:cubicBezTo>
                    <a:lnTo>
                      <a:pt x="228600" y="190500"/>
                    </a:lnTo>
                    <a:cubicBezTo>
                      <a:pt x="228600" y="211542"/>
                      <a:pt x="211542" y="228600"/>
                      <a:pt x="1905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934187" y="2114550"/>
                <a:ext cx="228613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13" h="228600">
                    <a:moveTo>
                      <a:pt x="19063" y="223533"/>
                    </a:moveTo>
                    <a:cubicBezTo>
                      <a:pt x="7264" y="216720"/>
                      <a:pt x="0" y="204125"/>
                      <a:pt x="13" y="190500"/>
                    </a:cubicBezTo>
                    <a:lnTo>
                      <a:pt x="13" y="38100"/>
                    </a:lnTo>
                    <a:cubicBezTo>
                      <a:pt x="13" y="17058"/>
                      <a:pt x="17071" y="0"/>
                      <a:pt x="38113" y="0"/>
                    </a:cubicBezTo>
                    <a:lnTo>
                      <a:pt x="190513" y="0"/>
                    </a:lnTo>
                    <a:cubicBezTo>
                      <a:pt x="211555" y="0"/>
                      <a:pt x="228613" y="17058"/>
                      <a:pt x="228613" y="38100"/>
                    </a:cubicBezTo>
                    <a:lnTo>
                      <a:pt x="228613" y="190500"/>
                    </a:lnTo>
                    <a:cubicBezTo>
                      <a:pt x="228613" y="211542"/>
                      <a:pt x="211555" y="228600"/>
                      <a:pt x="190513" y="228600"/>
                    </a:cubicBezTo>
                    <a:lnTo>
                      <a:pt x="133363" y="22860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7512558" y="1912620"/>
              <a:ext cx="397073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Images fan out sparsely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7130" y="2371725"/>
              <a:ext cx="4231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Eager pulls duplicate work and disk traffic</a:t>
              </a:r>
            </a:p>
          </p:txBody>
        </p:sp>
      </p:grpSp>
      <p:grpSp>
        <p:nvGrpSpPr>
          <p:cNvPr id="26" name="Group 26" descr="## [Group 26] Idle state stays resident&#10;bursts, and long-lived state keeps memory resident. At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17da598afe72547509767db6016afe88bc3a6313022d51e61554ee20ef33ad7c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Idle state stays resident</p2vs:concise>
                  <p2vs:detailed>bursts, and long-lived state keeps memory resident. At</p2vs:detailed>
                </p2vs:blockSemantics>
              </a:ext>
            </a:extLst>
          </p:cNvPr>
          <p:cNvGrpSpPr/>
          <p:nvPr/>
        </p:nvGrpSpPr>
        <p:grpSpPr>
          <a:xfrm>
            <a:off x="609600" y="3276600"/>
            <a:ext cx="5140055" cy="1104900"/>
            <a:chOff x="609600" y="3276600"/>
            <a:chExt cx="5140055" cy="1104900"/>
          </a:xfrm>
        </p:grpSpPr>
        <p:sp>
          <p:nvSpPr>
            <p:cNvPr id="19" name="Rectangle 19"/>
            <p:cNvSpPr/>
            <p:nvPr/>
          </p:nvSpPr>
          <p:spPr>
            <a:xfrm>
              <a:off x="609600" y="3276600"/>
              <a:ext cx="4953000" cy="11049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7F3D0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914400" y="3619500"/>
              <a:ext cx="304800" cy="342900"/>
              <a:chOff x="914400" y="3619500"/>
              <a:chExt cx="304800" cy="3429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14400" y="361950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14400" y="367665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14400" y="379095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492758" y="3436620"/>
              <a:ext cx="41907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Idle state stays resident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97330" y="3895725"/>
              <a:ext cx="42523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Long lifetimes keep memory and state alive</a:t>
              </a:r>
            </a:p>
          </p:txBody>
        </p:sp>
      </p:grpSp>
      <p:grpSp>
        <p:nvGrpSpPr>
          <p:cNvPr id="41" name="Group 41" descr="## [Group 41] Neighbors interfere&#10;the same time, best-effort tasks can interfere with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37c230c900e230c175a286749eeb54795637fd24554de0b91b77f17365ef8863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Neighbors interfere</p2vs:concise>
                  <p2vs:detailed>the same time, best-effort tasks can interfere with</p2vs:detailed>
                </p2vs:blockSemantics>
              </a:ext>
            </a:extLst>
          </p:cNvPr>
          <p:cNvGrpSpPr/>
          <p:nvPr/>
        </p:nvGrpSpPr>
        <p:grpSpPr>
          <a:xfrm>
            <a:off x="6629400" y="3276600"/>
            <a:ext cx="5201994" cy="1104900"/>
            <a:chOff x="6629400" y="3276600"/>
            <a:chExt cx="5201994" cy="1104900"/>
          </a:xfrm>
        </p:grpSpPr>
        <p:sp>
          <p:nvSpPr>
            <p:cNvPr id="27" name="Rectangle 27"/>
            <p:cNvSpPr/>
            <p:nvPr/>
          </p:nvSpPr>
          <p:spPr>
            <a:xfrm>
              <a:off x="6629400" y="3276600"/>
              <a:ext cx="4953000" cy="110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915150" y="3619500"/>
              <a:ext cx="342900" cy="342900"/>
              <a:chOff x="6915150" y="3619500"/>
              <a:chExt cx="342900" cy="3429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953250" y="365760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247650" y="0"/>
                    </a:lnTo>
                    <a:cubicBezTo>
                      <a:pt x="258171" y="0"/>
                      <a:pt x="266700" y="8529"/>
                      <a:pt x="266700" y="19050"/>
                    </a:cubicBezTo>
                    <a:lnTo>
                      <a:pt x="266700" y="247650"/>
                    </a:lnTo>
                    <a:cubicBezTo>
                      <a:pt x="266700" y="258171"/>
                      <a:pt x="258171" y="266700"/>
                      <a:pt x="247650" y="266700"/>
                    </a:cubicBezTo>
                    <a:lnTo>
                      <a:pt x="19050" y="266700"/>
                    </a:lnTo>
                    <a:cubicBezTo>
                      <a:pt x="8529" y="266700"/>
                      <a:pt x="0" y="258171"/>
                      <a:pt x="0" y="2476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029450" y="37338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114300"/>
                    </a:lnTo>
                    <a:lnTo>
                      <a:pt x="0" y="11430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15150" y="37528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915150" y="38290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048500" y="36195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124700" y="36195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19950" y="37528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19950" y="38290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124700" y="39243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3810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048500" y="39243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3810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512558" y="3436620"/>
              <a:ext cx="332538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Neighbors interfere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26630" y="3895725"/>
              <a:ext cx="45047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Best-effort load inflates agent-step latency</a:t>
              </a:r>
            </a:p>
          </p:txBody>
        </p:sp>
      </p:grpSp>
      <p:grpSp>
        <p:nvGrpSpPr>
          <p:cNvPr id="45" name="Group 45" descr="## [Group 45] THE REQUIREMENT&#10;latency-sensitive agents unless the platform controls co-location explicitly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e7593b46845c3651e12f967b0d3e6a3b9498937ddad3c07a61da07f010db4966" orderSource="geometry" orderIndex="4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THE REQUIREMENT</p2vs:concise>
                  <p2vs:detailed>latency-sensitive agents unless the platform controls co-location explicitly.</p2vs:detailed>
                </p2vs:blockSemantics>
              </a:ext>
            </a:extLst>
          </p:cNvPr>
          <p:cNvGrpSpPr/>
          <p:nvPr/>
        </p:nvGrpSpPr>
        <p:grpSpPr>
          <a:xfrm>
            <a:off x="1761266" y="4953000"/>
            <a:ext cx="8669468" cy="1210437"/>
            <a:chOff x="1761266" y="4953000"/>
            <a:chExt cx="8669468" cy="1210437"/>
          </a:xfrm>
        </p:grpSpPr>
        <p:sp>
          <p:nvSpPr>
            <p:cNvPr id="42" name="Line 42"/>
            <p:cNvSpPr/>
            <p:nvPr/>
          </p:nvSpPr>
          <p:spPr>
            <a:xfrm>
              <a:off x="1866900" y="4953000"/>
              <a:ext cx="8458200" cy="9525"/>
            </a:xfrm>
            <a:custGeom>
              <a:avLst/>
              <a:gdLst/>
              <a:ahLst/>
              <a:cxnLst/>
              <a:rect l="l" t="t" r="r" b="b"/>
              <a:pathLst>
                <a:path w="8458200" h="9525">
                  <a:moveTo>
                    <a:pt x="0" y="0"/>
                  </a:moveTo>
                  <a:lnTo>
                    <a:pt x="84582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083412" y="5289232"/>
              <a:ext cx="20251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3"/>
                  </a:solidFill>
                  <a:latin typeface="Courier New"/>
                  <a:ea typeface="Courier New"/>
                  <a:cs typeface="Courier New"/>
                </a:rPr>
                <a:t>THE REQUIREMENT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61266" y="5694045"/>
              <a:ext cx="86694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elastic substrate must solve all four together.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0550" y="488632"/>
            <a:ext cx="8960162" cy="1052513"/>
            <a:chOff x="590550" y="488632"/>
            <a:chExt cx="8960162" cy="1052513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88632"/>
              <a:ext cx="3109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</a:rPr>
                <a:t>03 · THE UNIFIED INTERFACE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779145"/>
              <a:ext cx="896016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SDK, four isolation backends</a:t>
              </a:r>
            </a:p>
          </p:txBody>
        </p:sp>
      </p:grpSp>
      <p:grpSp>
        <p:nvGrpSpPr>
          <p:cNvPr id="15" name="Group 15" descr="## [Group 15] Route each job&#10;DSec combines multiple isolation backends behind one interface. It coordinates scheduling and lifecycle management across the cluster, composes immutable environment layers, and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8488a9b16deee63757babd0d4319fe812b2a7b1cbde1f902ab0701910589a459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Route each job</p2vs:concise>
                  <p2vs:detailed>DSec combines multiple isolation backends behind one interface. It coordinates scheduling and lifecycle management across the cluster, composes immutable environment layers, and</p2vs:detailed>
                </p2vs:blockSemantics>
              </a:ext>
            </a:extLst>
          </p:cNvPr>
          <p:cNvGrpSpPr/>
          <p:nvPr/>
        </p:nvGrpSpPr>
        <p:grpSpPr>
          <a:xfrm>
            <a:off x="609600" y="1638300"/>
            <a:ext cx="2666798" cy="4112895"/>
            <a:chOff x="609600" y="1638300"/>
            <a:chExt cx="2666798" cy="4112895"/>
          </a:xfrm>
        </p:grpSpPr>
        <p:sp>
          <p:nvSpPr>
            <p:cNvPr id="5" name="Line 5"/>
            <p:cNvSpPr/>
            <p:nvPr/>
          </p:nvSpPr>
          <p:spPr>
            <a:xfrm>
              <a:off x="609600" y="1638300"/>
              <a:ext cx="9525" cy="4076700"/>
            </a:xfrm>
            <a:custGeom>
              <a:avLst/>
              <a:gdLst/>
              <a:ahLst/>
              <a:cxnLst/>
              <a:rect l="l" t="t" r="r" b="b"/>
              <a:pathLst>
                <a:path w="9525" h="4076700">
                  <a:moveTo>
                    <a:pt x="0" y="0"/>
                  </a:moveTo>
                  <a:lnTo>
                    <a:pt x="0" y="4076700"/>
                  </a:lnTo>
                </a:path>
              </a:pathLst>
            </a:custGeom>
            <a:noFill/>
            <a:ln w="571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3158" y="1874520"/>
              <a:ext cx="23932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Route each job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85444" y="2323148"/>
              <a:ext cx="20181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 the lightest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5444" y="2723198"/>
              <a:ext cx="23902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suitable backend.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6968" y="3555682"/>
              <a:ext cx="1815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Courier New"/>
                  <a:ea typeface="Courier New"/>
                  <a:cs typeface="Courier New"/>
                </a:rPr>
                <a:t>CONTROL PLANE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6968" y="3917632"/>
              <a:ext cx="19783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Cluster placement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6968" y="4317682"/>
              <a:ext cx="13598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Courier New"/>
                  <a:ea typeface="Courier New"/>
                  <a:cs typeface="Courier New"/>
                </a:rPr>
                <a:t>EDGE PROXY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6968" y="4679632"/>
              <a:ext cx="23006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Lifecycle + mediation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6968" y="5079682"/>
              <a:ext cx="12858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Courier New"/>
                  <a:ea typeface="Courier New"/>
                  <a:cs typeface="Courier New"/>
                </a:rPr>
                <a:t>EXECUTORS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7730" y="5457825"/>
              <a:ext cx="22120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Backend specialization</a:t>
              </a:r>
            </a:p>
          </p:txBody>
        </p:sp>
      </p:grpSp>
      <p:grpSp>
        <p:nvGrpSpPr>
          <p:cNvPr id="18" name="Group 18" descr="## [Group 18] Group 18&#10;uses memory reclamation plus CPU quality-of-service controls. It also integrates with the reinforcement-learning framework so long-running rollouts can survive preemption safely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dcab605fa3693bfd6bf3d0368d6e547794af063bd8b52dcb62f642f2181974d7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Group 18</p2vs:concise>
                  <p2vs:detailed>uses memory reclamation plus CPU quality-of-service controls. It also integrates with the reinforcement-learning framework so long-running rollouts can survive preemption safely.</p2vs:detailed>
                </p2vs:blockSemantics>
              </a:ext>
            </a:extLst>
          </p:cNvPr>
          <p:cNvGrpSpPr/>
          <p:nvPr/>
        </p:nvGrpSpPr>
        <p:grpSpPr>
          <a:xfrm>
            <a:off x="3238500" y="1504950"/>
            <a:ext cx="8343900" cy="4819650"/>
            <a:chOff x="3238500" y="1504950"/>
            <a:chExt cx="8343900" cy="4819650"/>
          </a:xfrm>
        </p:grpSpPr>
        <p:sp>
          <p:nvSpPr>
            <p:cNvPr id="16" name="Rectangle 16"/>
            <p:cNvSpPr/>
            <p:nvPr/>
          </p:nvSpPr>
          <p:spPr>
            <a:xfrm>
              <a:off x="3238500" y="1504950"/>
              <a:ext cx="8343900" cy="48196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7F3D0"/>
              </a:solidFill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53628" y="1676400"/>
              <a:ext cx="7313644" cy="4476750"/>
            </a:xfrm>
            <a:prstGeom prst="rect">
              <a:avLst/>
            </a:prstGeom>
          </p:spPr>
        </p:pic>
      </p:grpSp>
      <p:sp>
        <p:nvSpPr>
          <p:cNvPr id="19" name="TextBox 19"/>
          <p:cNvSpPr txBox="1"/>
          <p:nvPr/>
        </p:nvSpPr>
        <p:spPr>
          <a:xfrm>
            <a:off x="3230880" y="6467475"/>
            <a:ext cx="822961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Unified training API above runtime-specific executors and shared cluster services.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0550" y="488632"/>
            <a:ext cx="10365063" cy="1052513"/>
            <a:chOff x="590550" y="488632"/>
            <a:chExt cx="10365063" cy="1052513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88632"/>
              <a:ext cx="2628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</a:rPr>
                <a:t>04 · CORE MECHANISMS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779145"/>
              <a:ext cx="1036506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mechanisms reinforce one another</a:t>
              </a:r>
            </a:p>
          </p:txBody>
        </p:sp>
      </p:grpSp>
      <p:grpSp>
        <p:nvGrpSpPr>
          <p:cNvPr id="8" name="Group 8" descr="## [Group 8] 01 · STORAGE&#10;The architecture separates a cluster-level control plane from node-local edge proxies and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7c0a19bb5b792099cd58b099e863cdbf5c4e7a4da916b15bc2cef9fc4c8c0882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01 · STORAGE</p2vs:concise>
                  <p2vs:detailed>The architecture separates a cluster-level control plane from node-local edge proxies and</p2vs:detailed>
                </p2vs:blockSemantics>
              </a:ext>
            </a:extLst>
          </p:cNvPr>
          <p:cNvGrpSpPr/>
          <p:nvPr/>
        </p:nvGrpSpPr>
        <p:grpSpPr>
          <a:xfrm>
            <a:off x="597408" y="1869758"/>
            <a:ext cx="2227371" cy="1075181"/>
            <a:chOff x="597408" y="1869758"/>
            <a:chExt cx="2227371" cy="1075181"/>
          </a:xfrm>
        </p:grpSpPr>
        <p:sp>
          <p:nvSpPr>
            <p:cNvPr id="5" name="TextBox 5"/>
            <p:cNvSpPr txBox="1"/>
            <p:nvPr/>
          </p:nvSpPr>
          <p:spPr>
            <a:xfrm>
              <a:off x="601218" y="1869758"/>
              <a:ext cx="15692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</a:rPr>
                <a:t>01 · STORAGE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7408" y="2198370"/>
              <a:ext cx="20854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EROFS + 3FS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2622232"/>
              <a:ext cx="22235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Load data on demand</a:t>
              </a:r>
            </a:p>
          </p:txBody>
        </p:sp>
      </p:grpSp>
      <p:grpSp>
        <p:nvGrpSpPr>
          <p:cNvPr id="12" name="Group 12" descr="## [Group 12] 02 · MEMORY&#10;runtime-specific executors. Environments are assembled from independently versioned EROFS layers, with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edb7d9409754ee8f1c9137d8743aeb15e1210ebc929dea6fef4d23c5eebbccfd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02 · MEMORY</p2vs:concise>
                  <p2vs:detailed>runtime-specific executors. Environments are assembled from independently versioned EROFS layers, with</p2vs:detailed>
                </p2vs:blockSemantics>
              </a:ext>
            </a:extLst>
          </p:cNvPr>
          <p:cNvGrpSpPr/>
          <p:nvPr/>
        </p:nvGrpSpPr>
        <p:grpSpPr>
          <a:xfrm>
            <a:off x="597408" y="3355658"/>
            <a:ext cx="2563661" cy="1075181"/>
            <a:chOff x="597408" y="3355658"/>
            <a:chExt cx="2563661" cy="1075181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3355658"/>
              <a:ext cx="1532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</a:rPr>
                <a:t>02 · MEMORY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7408" y="3684270"/>
              <a:ext cx="256366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Share + reclaim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218" y="4108132"/>
              <a:ext cx="2336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virtio-pmem + DAMON</a:t>
              </a:r>
            </a:p>
          </p:txBody>
        </p:sp>
      </p:grpSp>
      <p:grpSp>
        <p:nvGrpSpPr>
          <p:cNvPr id="16" name="Group 16" descr="## [Group 16] 03 · CPU QOS&#10;data loaded on demand from 3FS. For dense microVM hosting, DSec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b488a55735662391bb9e084f7243b4c9d3c38d1cb0598863dc6a315ae883d9e0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03 · CPU QOS</p2vs:concise>
                  <p2vs:detailed>data loaded on demand from 3FS. For dense microVM hosting, DSec</p2vs:detailed>
                </p2vs:blockSemantics>
              </a:ext>
            </a:extLst>
          </p:cNvPr>
          <p:cNvGrpSpPr/>
          <p:nvPr/>
        </p:nvGrpSpPr>
        <p:grpSpPr>
          <a:xfrm>
            <a:off x="597408" y="4841558"/>
            <a:ext cx="2664143" cy="1075181"/>
            <a:chOff x="597408" y="4841558"/>
            <a:chExt cx="2664143" cy="1075181"/>
          </a:xfrm>
        </p:grpSpPr>
        <p:sp>
          <p:nvSpPr>
            <p:cNvPr id="13" name="TextBox 13"/>
            <p:cNvSpPr txBox="1"/>
            <p:nvPr/>
          </p:nvSpPr>
          <p:spPr>
            <a:xfrm>
              <a:off x="601218" y="4841558"/>
              <a:ext cx="1556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</a:rPr>
                <a:t>03 · CPU QOS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7408" y="5170170"/>
              <a:ext cx="266414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Protect latency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218" y="5594032"/>
              <a:ext cx="21231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SCHED_IDLE + cores</a:t>
              </a:r>
            </a:p>
          </p:txBody>
        </p:sp>
      </p:grpSp>
      <p:grpSp>
        <p:nvGrpSpPr>
          <p:cNvPr id="19" name="Group 19" descr="## [Group 19] Group 19&#10;combines shared read-only mappings, active memory reclamation, and two-level CPU scheduling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0e5e3913a6d9824fce3268e1029bf6d9045c19bcb08121ff408a0f97baf71b76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Group 19</p2vs:concise>
                  <p2vs:detailed>combines shared read-only mappings, active memory reclamation, and two-level CPU scheduling.</p2vs:detailed>
                </p2vs:blockSemantics>
              </a:ext>
            </a:extLst>
          </p:cNvPr>
          <p:cNvGrpSpPr/>
          <p:nvPr/>
        </p:nvGrpSpPr>
        <p:grpSpPr>
          <a:xfrm>
            <a:off x="3333750" y="1676400"/>
            <a:ext cx="8248650" cy="4324350"/>
            <a:chOff x="3333750" y="1676400"/>
            <a:chExt cx="8248650" cy="4324350"/>
          </a:xfrm>
        </p:grpSpPr>
        <p:sp>
          <p:nvSpPr>
            <p:cNvPr id="17" name="Rectangle 17"/>
            <p:cNvSpPr/>
            <p:nvPr/>
          </p:nvSpPr>
          <p:spPr>
            <a:xfrm>
              <a:off x="3333750" y="1676400"/>
              <a:ext cx="8248650" cy="4324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7F3D0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90533" y="1866900"/>
              <a:ext cx="7535085" cy="3943350"/>
            </a:xfrm>
            <a:prstGeom prst="rect">
              <a:avLst/>
            </a:prstGeom>
          </p:spPr>
        </p:pic>
      </p:grpSp>
      <p:grpSp>
        <p:nvGrpSpPr>
          <p:cNvPr id="22" name="Group 22"/>
          <p:cNvGrpSpPr/>
          <p:nvPr/>
        </p:nvGrpSpPr>
        <p:grpSpPr>
          <a:xfrm>
            <a:off x="3325368" y="6191250"/>
            <a:ext cx="8257032" cy="487489"/>
            <a:chOff x="3325368" y="6191250"/>
            <a:chExt cx="8257032" cy="487489"/>
          </a:xfrm>
        </p:grpSpPr>
        <p:sp>
          <p:nvSpPr>
            <p:cNvPr id="20" name="Line 20"/>
            <p:cNvSpPr/>
            <p:nvPr/>
          </p:nvSpPr>
          <p:spPr>
            <a:xfrm>
              <a:off x="3333750" y="6191250"/>
              <a:ext cx="8248650" cy="9525"/>
            </a:xfrm>
            <a:custGeom>
              <a:avLst/>
              <a:gdLst/>
              <a:ahLst/>
              <a:cxnLst/>
              <a:rect l="l" t="t" r="r" b="b"/>
              <a:pathLst>
                <a:path w="8248650" h="9525">
                  <a:moveTo>
                    <a:pt x="0" y="0"/>
                  </a:moveTo>
                  <a:lnTo>
                    <a:pt x="82486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25368" y="6356032"/>
              <a:ext cx="80760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Density comes from coordinated controls across the full execution stack.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0550" y="488632"/>
            <a:ext cx="9207025" cy="1052513"/>
            <a:chOff x="590550" y="488632"/>
            <a:chExt cx="9207025" cy="1052513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88632"/>
              <a:ext cx="27398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</a:rPr>
                <a:t>05 · EVALUATION DESIGN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779145"/>
              <a:ext cx="920702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Test the production failure modes</a:t>
              </a:r>
            </a:p>
          </p:txBody>
        </p:sp>
      </p:grpSp>
      <p:grpSp>
        <p:nvGrpSpPr>
          <p:cNvPr id="10" name="Group 10" descr="## [Group 10] Can setup absorb a burst?&#10;The evaluation is grounded in production traces and real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6e1a2f028d7880b568da0f544490806e78867e6aeafb5f04183dbb166f40332a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Can setup absorb a burst?</p2vs:concise>
                  <p2vs:detailed>The evaluation is grounded in production traces and real</p2vs:detailed>
                </p2vs:blockSemantics>
              </a:ext>
            </a:extLst>
          </p:cNvPr>
          <p:cNvGrpSpPr/>
          <p:nvPr/>
        </p:nvGrpSpPr>
        <p:grpSpPr>
          <a:xfrm>
            <a:off x="609600" y="1695450"/>
            <a:ext cx="5257800" cy="1714500"/>
            <a:chOff x="609600" y="1695450"/>
            <a:chExt cx="5257800" cy="1714500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5257800" cy="1714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7F3D0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963612" y="2033587"/>
              <a:ext cx="244475" cy="314324"/>
            </a:xfrm>
            <a:custGeom>
              <a:avLst/>
              <a:gdLst/>
              <a:ahLst/>
              <a:cxnLst/>
              <a:rect l="l" t="t" r="r" b="b"/>
              <a:pathLst>
                <a:path w="244475" h="314324">
                  <a:moveTo>
                    <a:pt x="139700" y="0"/>
                  </a:moveTo>
                  <a:lnTo>
                    <a:pt x="139700" y="122237"/>
                  </a:lnTo>
                  <a:lnTo>
                    <a:pt x="244475" y="122237"/>
                  </a:lnTo>
                  <a:lnTo>
                    <a:pt x="104775" y="314324"/>
                  </a:lnTo>
                  <a:lnTo>
                    <a:pt x="104775" y="192087"/>
                  </a:lnTo>
                  <a:lnTo>
                    <a:pt x="0" y="192087"/>
                  </a:lnTo>
                  <a:lnTo>
                    <a:pt x="139700" y="0"/>
                  </a:lnTo>
                </a:path>
              </a:pathLst>
            </a:custGeom>
            <a:noFill/>
            <a:ln w="34925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92758" y="1931670"/>
              <a:ext cx="43619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Can setup absorb a burst?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95806" y="2406015"/>
              <a:ext cx="34785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Courier New"/>
                  <a:ea typeface="Courier New"/>
                  <a:cs typeface="Courier New"/>
                </a:rPr>
                <a:t>8,192 containers · 10 nodes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96568" y="2736532"/>
              <a:ext cx="306571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Cold eager pull vs cached local</a:t>
              </a:r>
              <a:br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vs on-demand EROFS</a:t>
              </a:r>
            </a:p>
          </p:txBody>
        </p:sp>
      </p:grpSp>
      <p:grpSp>
        <p:nvGrpSpPr>
          <p:cNvPr id="18" name="Group 18" descr="## [Group 18] Layers instead of extraction?&#10;agentic workloads. It measures image distribution, environment provisioning, memory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9f80052dc9249596073845632e706bc2e7edaa6215b5bab21ed572f8432bd8ef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Layers instead of extraction?</p2vs:concise>
                  <p2vs:detailed>agentic workloads. It measures image distribution, environment provisioning, memory</p2vs:detailed>
                </p2vs:blockSemantics>
              </a:ext>
            </a:extLst>
          </p:cNvPr>
          <p:cNvGrpSpPr/>
          <p:nvPr/>
        </p:nvGrpSpPr>
        <p:grpSpPr>
          <a:xfrm>
            <a:off x="6324600" y="1695450"/>
            <a:ext cx="5592550" cy="1714500"/>
            <a:chOff x="6324600" y="1695450"/>
            <a:chExt cx="5592550" cy="1714500"/>
          </a:xfrm>
        </p:grpSpPr>
        <p:sp>
          <p:nvSpPr>
            <p:cNvPr id="11" name="Rectangle 11"/>
            <p:cNvSpPr/>
            <p:nvPr/>
          </p:nvSpPr>
          <p:spPr>
            <a:xfrm>
              <a:off x="6324600" y="1695450"/>
              <a:ext cx="52578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6661138" y="2051050"/>
              <a:ext cx="279412" cy="279400"/>
              <a:chOff x="6661138" y="2051050"/>
              <a:chExt cx="279412" cy="279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731000" y="212090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92087" y="4680"/>
                    </a:moveTo>
                    <a:cubicBezTo>
                      <a:pt x="202893" y="10919"/>
                      <a:pt x="209549" y="22448"/>
                      <a:pt x="209550" y="34925"/>
                    </a:cubicBezTo>
                    <a:lnTo>
                      <a:pt x="209550" y="174625"/>
                    </a:lnTo>
                    <a:cubicBezTo>
                      <a:pt x="209550" y="193913"/>
                      <a:pt x="193913" y="209550"/>
                      <a:pt x="174625" y="209550"/>
                    </a:cubicBezTo>
                    <a:lnTo>
                      <a:pt x="34925" y="209550"/>
                    </a:lnTo>
                    <a:cubicBezTo>
                      <a:pt x="15636" y="209550"/>
                      <a:pt x="0" y="193913"/>
                      <a:pt x="0" y="174625"/>
                    </a:cubicBez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87312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661138" y="2051050"/>
                <a:ext cx="209562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62" h="209550">
                    <a:moveTo>
                      <a:pt x="17475" y="204905"/>
                    </a:moveTo>
                    <a:cubicBezTo>
                      <a:pt x="6658" y="198660"/>
                      <a:pt x="0" y="187114"/>
                      <a:pt x="12" y="174625"/>
                    </a:cubicBezTo>
                    <a:lnTo>
                      <a:pt x="12" y="34925"/>
                    </a:lnTo>
                    <a:cubicBezTo>
                      <a:pt x="12" y="15636"/>
                      <a:pt x="15649" y="0"/>
                      <a:pt x="34937" y="0"/>
                    </a:cubicBezTo>
                    <a:lnTo>
                      <a:pt x="174637" y="0"/>
                    </a:lnTo>
                    <a:cubicBezTo>
                      <a:pt x="193925" y="0"/>
                      <a:pt x="209562" y="15636"/>
                      <a:pt x="209562" y="34925"/>
                    </a:cubicBezTo>
                    <a:lnTo>
                      <a:pt x="209562" y="174625"/>
                    </a:lnTo>
                    <a:cubicBezTo>
                      <a:pt x="209562" y="193913"/>
                      <a:pt x="193925" y="209550"/>
                      <a:pt x="174637" y="209550"/>
                    </a:cubicBezTo>
                    <a:lnTo>
                      <a:pt x="122249" y="20955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7208520" y="1947862"/>
              <a:ext cx="47086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Layers instead of extraction?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10806" y="2406015"/>
              <a:ext cx="3888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Courier New"/>
                  <a:ea typeface="Courier New"/>
                  <a:cs typeface="Courier New"/>
                </a:rPr>
                <a:t>Tar workspace vs EROFS mount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12330" y="2847975"/>
              <a:ext cx="4657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Measure setup CPU and disk-write throughput.</a:t>
              </a:r>
            </a:p>
          </p:txBody>
        </p:sp>
      </p:grpSp>
      <p:grpSp>
        <p:nvGrpSpPr>
          <p:cNvPr id="27" name="Group 27" descr="## [Group 27] Can hosts overcommit memory?&#10;under overcommit, and CPU interference. Public workloads include SWE-bench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8e66daa974ff07f3003e41e6c1a40f205269e1eca1bdd3f34ca411f0871cc9e8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Can hosts overcommit memory?</p2vs:concise>
                  <p2vs:detailed>under overcommit, and CPU interference. Public workloads include SWE-bench</p2vs:detailed>
                </p2vs:blockSemantics>
              </a:ext>
            </a:extLst>
          </p:cNvPr>
          <p:cNvGrpSpPr/>
          <p:nvPr/>
        </p:nvGrpSpPr>
        <p:grpSpPr>
          <a:xfrm>
            <a:off x="609600" y="3810000"/>
            <a:ext cx="5752386" cy="1714500"/>
            <a:chOff x="609600" y="3810000"/>
            <a:chExt cx="5752386" cy="1714500"/>
          </a:xfrm>
        </p:grpSpPr>
        <p:sp>
          <p:nvSpPr>
            <p:cNvPr id="19" name="Rectangle 19"/>
            <p:cNvSpPr/>
            <p:nvPr/>
          </p:nvSpPr>
          <p:spPr>
            <a:xfrm>
              <a:off x="609600" y="3810000"/>
              <a:ext cx="52578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946150" y="4148137"/>
              <a:ext cx="279399" cy="314325"/>
              <a:chOff x="946150" y="4148137"/>
              <a:chExt cx="279399" cy="3143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46150" y="4148137"/>
                <a:ext cx="279399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04775">
                    <a:moveTo>
                      <a:pt x="0" y="52387"/>
                    </a:moveTo>
                    <a:cubicBezTo>
                      <a:pt x="0" y="81320"/>
                      <a:pt x="62546" y="104775"/>
                      <a:pt x="139700" y="104775"/>
                    </a:cubicBezTo>
                    <a:cubicBezTo>
                      <a:pt x="216854" y="104775"/>
                      <a:pt x="279399" y="81320"/>
                      <a:pt x="279399" y="52387"/>
                    </a:cubicBezTo>
                    <a:cubicBezTo>
                      <a:pt x="279399" y="23455"/>
                      <a:pt x="216854" y="0"/>
                      <a:pt x="139700" y="0"/>
                    </a:cubicBezTo>
                    <a:cubicBezTo>
                      <a:pt x="62546" y="0"/>
                      <a:pt x="0" y="23455"/>
                      <a:pt x="0" y="52387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46150" y="4200525"/>
                <a:ext cx="27939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399" y="133708"/>
                      <a:pt x="279399" y="104775"/>
                    </a:cubicBezTo>
                    <a:lnTo>
                      <a:pt x="279399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46150" y="4305300"/>
                <a:ext cx="27939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399" y="133708"/>
                      <a:pt x="279399" y="104775"/>
                    </a:cubicBezTo>
                    <a:lnTo>
                      <a:pt x="279399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493520" y="4062412"/>
              <a:ext cx="486846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Can hosts overcommit memory?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95806" y="4520565"/>
              <a:ext cx="4054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Courier New"/>
                  <a:ea typeface="Courier New"/>
                  <a:cs typeface="Courier New"/>
                </a:rPr>
                <a:t>Four Firecracker configurations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97330" y="4962525"/>
              <a:ext cx="37017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Track host memory under agentic RL.</a:t>
              </a:r>
            </a:p>
          </p:txBody>
        </p:sp>
      </p:grpSp>
      <p:grpSp>
        <p:nvGrpSpPr>
          <p:cNvPr id="43" name="Group 43" descr="## [Group 43] Can sharing preserve latency?&#10;and Terminal-Bench alongside internal software-engineering and security tasks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2180f1f86d2d0bb18c7eaa83e4dab31edefaaff1556ae2900cd022a57071adaa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Can sharing preserve latency?</p2vs:concise>
                  <p2vs:detailed>and Terminal-Bench alongside internal software-engineering and security tasks.</p2vs:detailed>
                </p2vs:blockSemantics>
              </a:ext>
            </a:extLst>
          </p:cNvPr>
          <p:cNvGrpSpPr/>
          <p:nvPr/>
        </p:nvGrpSpPr>
        <p:grpSpPr>
          <a:xfrm>
            <a:off x="6324600" y="3810000"/>
            <a:ext cx="5592550" cy="1714500"/>
            <a:chOff x="6324600" y="3810000"/>
            <a:chExt cx="5592550" cy="1714500"/>
          </a:xfrm>
        </p:grpSpPr>
        <p:sp>
          <p:nvSpPr>
            <p:cNvPr id="28" name="Rectangle 28"/>
            <p:cNvSpPr/>
            <p:nvPr/>
          </p:nvSpPr>
          <p:spPr>
            <a:xfrm>
              <a:off x="6324600" y="3810000"/>
              <a:ext cx="5257800" cy="1714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7F3D0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643687" y="4148137"/>
              <a:ext cx="314325" cy="314325"/>
              <a:chOff x="6643687" y="4148137"/>
              <a:chExt cx="314325" cy="3143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678612" y="4183062"/>
                <a:ext cx="24447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244475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227012" y="0"/>
                    </a:lnTo>
                    <a:cubicBezTo>
                      <a:pt x="236656" y="0"/>
                      <a:pt x="244475" y="7818"/>
                      <a:pt x="244475" y="17462"/>
                    </a:cubicBezTo>
                    <a:lnTo>
                      <a:pt x="244475" y="227012"/>
                    </a:lnTo>
                    <a:cubicBezTo>
                      <a:pt x="244475" y="236656"/>
                      <a:pt x="236656" y="244475"/>
                      <a:pt x="227012" y="244475"/>
                    </a:cubicBezTo>
                    <a:lnTo>
                      <a:pt x="17462" y="244475"/>
                    </a:lnTo>
                    <a:cubicBezTo>
                      <a:pt x="7818" y="244475"/>
                      <a:pt x="0" y="236656"/>
                      <a:pt x="0" y="227012"/>
                    </a:cubicBezTo>
                    <a:lnTo>
                      <a:pt x="0" y="17462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748462" y="4252912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104775"/>
                    </a:lnTo>
                    <a:lnTo>
                      <a:pt x="0" y="104775"/>
                    </a:ln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643687" y="427037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643687" y="434022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765925" y="4148137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835775" y="4148137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923087" y="427037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34925" y="0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923087" y="434022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34925" y="0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835775" y="4427537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3492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765925" y="4427537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3492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208520" y="4062412"/>
              <a:ext cx="47086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Can sharing preserve latency?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10806" y="4520565"/>
              <a:ext cx="36287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Courier New"/>
                  <a:ea typeface="Courier New"/>
                  <a:cs typeface="Courier New"/>
                </a:rPr>
                <a:t>10–50% best-effort CPU load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12330" y="4962525"/>
              <a:ext cx="42422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Baseline vs SCHED_IDLE vs core scheduling.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1218" y="5943600"/>
            <a:ext cx="10981182" cy="716089"/>
            <a:chOff x="601218" y="5943600"/>
            <a:chExt cx="10981182" cy="716089"/>
          </a:xfrm>
        </p:grpSpPr>
        <p:sp>
          <p:nvSpPr>
            <p:cNvPr id="44" name="Line 44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1218" y="6051232"/>
              <a:ext cx="618801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Workloads: production traces · SWE-bench · Terminal-Bench</a:t>
              </a:r>
              <a:br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Internal software engineering · security tasks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0550" y="450532"/>
            <a:ext cx="9208348" cy="1052513"/>
            <a:chOff x="590550" y="450532"/>
            <a:chExt cx="9208348" cy="1052513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50532"/>
              <a:ext cx="24441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</a:rPr>
                <a:t>06 · DATA ON DEMAND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741045"/>
              <a:ext cx="920834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Load data when the agent needs it</a:t>
              </a:r>
            </a:p>
          </p:txBody>
        </p:sp>
      </p:grpSp>
      <p:grpSp>
        <p:nvGrpSpPr>
          <p:cNvPr id="16" name="Group 16" descr="## [Group 16] BURST SETUP&#10;On-demand EROFS avoids downloading and unpacking entire images before work begins. In the 8,192-container burst, it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038ad5f6d68a5c63f7821dc6fbda34328bcbfc84fe1942981e407f92977fe867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BURST SETUP</p2vs:concise>
                  <p2vs:detailed>On-demand EROFS avoids downloading and unpacking entire images before work begins. In the 8,192-container burst, it</p2vs:detailed>
                </p2vs:blockSemantics>
              </a:ext>
            </a:extLst>
          </p:cNvPr>
          <p:cNvGrpSpPr/>
          <p:nvPr/>
        </p:nvGrpSpPr>
        <p:grpSpPr>
          <a:xfrm>
            <a:off x="609600" y="1600200"/>
            <a:ext cx="3000375" cy="4591050"/>
            <a:chOff x="609600" y="1600200"/>
            <a:chExt cx="3000375" cy="4591050"/>
          </a:xfrm>
        </p:grpSpPr>
        <p:sp>
          <p:nvSpPr>
            <p:cNvPr id="5" name="Rectangle 5"/>
            <p:cNvSpPr/>
            <p:nvPr/>
          </p:nvSpPr>
          <p:spPr>
            <a:xfrm>
              <a:off x="609600" y="1600200"/>
              <a:ext cx="2895600" cy="4591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156" y="1920240"/>
              <a:ext cx="15775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A7F3D0"/>
                  </a:solidFill>
                  <a:latin typeface="Courier New"/>
                  <a:ea typeface="Courier New"/>
                  <a:cs typeface="Courier New"/>
                </a:rPr>
                <a:t>BURST SETUP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57250" y="2303145"/>
              <a:ext cx="199510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≈35 min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7918" y="2927032"/>
              <a:ext cx="27155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DCFCE7"/>
                  </a:solidFill>
                  <a:latin typeface="+mn-lt"/>
                  <a:ea typeface="+mn-ea"/>
                  <a:cs typeface="+mn-cs"/>
                </a:rPr>
                <a:t>on-demand ≈ cached local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337185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0" y="0"/>
                  </a:moveTo>
                  <a:lnTo>
                    <a:pt x="23622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822" y="3540442"/>
              <a:ext cx="145907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&gt;60 min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7918" y="4012882"/>
              <a:ext cx="1071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DCFCE7"/>
                  </a:solidFill>
                  <a:latin typeface="+mn-lt"/>
                  <a:ea typeface="+mn-ea"/>
                  <a:cs typeface="+mn-cs"/>
                </a:rPr>
                <a:t>eager pull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156" y="4568190"/>
              <a:ext cx="16984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A7F3D0"/>
                  </a:solidFill>
                  <a:latin typeface="Courier New"/>
                  <a:ea typeface="Courier New"/>
                  <a:cs typeface="Courier New"/>
                </a:rPr>
                <a:t>PROVISIONING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108" y="4960620"/>
              <a:ext cx="18054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79 → 45 min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4108" y="539877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5.5× less writes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8680" y="5819775"/>
              <a:ext cx="2741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DCFCE7"/>
                  </a:solidFill>
                  <a:latin typeface="+mn-lt"/>
                  <a:ea typeface="+mn-ea"/>
                  <a:cs typeface="+mn-cs"/>
                </a:rPr>
                <a:t>3.4× lower peak throughput</a:t>
              </a:r>
            </a:p>
          </p:txBody>
        </p:sp>
      </p:grpSp>
      <p:grpSp>
        <p:nvGrpSpPr>
          <p:cNvPr id="20" name="Group 20" descr="## [Group 20] 8,192-container burst across 10 nodes&#10;finishes in about thirty-five minutes, matching the fully local baseline, while eager pulling needs more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0277b4797496d31ec928246d717d0dde93003a0ff62f76f600a9dd39bd2f671c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8,192-container burst across 10 nodes</p2vs:concise>
                  <p2vs:detailed>finishes in about thirty-five minutes, matching the fully local baseline, while eager pulling needs more</p2vs:detailed>
                </p2vs:blockSemantics>
              </a:ext>
            </a:extLst>
          </p:cNvPr>
          <p:cNvGrpSpPr/>
          <p:nvPr/>
        </p:nvGrpSpPr>
        <p:grpSpPr>
          <a:xfrm>
            <a:off x="3810000" y="1600200"/>
            <a:ext cx="7772400" cy="2754439"/>
            <a:chOff x="3810000" y="1600200"/>
            <a:chExt cx="7772400" cy="2754439"/>
          </a:xfrm>
        </p:grpSpPr>
        <p:sp>
          <p:nvSpPr>
            <p:cNvPr id="17" name="Rectangle 17"/>
            <p:cNvSpPr/>
            <p:nvPr/>
          </p:nvSpPr>
          <p:spPr>
            <a:xfrm>
              <a:off x="3810000" y="1600200"/>
              <a:ext cx="7772400" cy="2667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7F3D0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48519" y="1752600"/>
              <a:ext cx="6895361" cy="23622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3954018" y="4031932"/>
              <a:ext cx="4259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8,192-container burst across 10 nodes</a:t>
              </a:r>
            </a:p>
          </p:txBody>
        </p:sp>
      </p:grpSp>
      <p:grpSp>
        <p:nvGrpSpPr>
          <p:cNvPr id="26" name="Group 26" descr="## [Group 26] MOUNT, DON’T EXTRACT&#10;than sixty minutes. Composable mounted layers also reduce provisioning time from seventy-nine to forty-five minutes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f22961c1592aa01da3a104204e2ab069fb0766b1f582b013f132abd8eb070cf2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MOUNT, DON’T EXTRACT</p2vs:concise>
                  <p2vs:detailed>than sixty minutes. Composable mounted layers also reduce provisioning time from seventy-nine to forty-five minutes.</p2vs:detailed>
                </p2vs:blockSemantics>
              </a:ext>
            </a:extLst>
          </p:cNvPr>
          <p:cNvGrpSpPr/>
          <p:nvPr/>
        </p:nvGrpSpPr>
        <p:grpSpPr>
          <a:xfrm>
            <a:off x="3810000" y="4514850"/>
            <a:ext cx="8209969" cy="1809750"/>
            <a:chOff x="3810000" y="4514850"/>
            <a:chExt cx="8209969" cy="1809750"/>
          </a:xfrm>
        </p:grpSpPr>
        <p:sp>
          <p:nvSpPr>
            <p:cNvPr id="21" name="Rectangle 21"/>
            <p:cNvSpPr/>
            <p:nvPr/>
          </p:nvSpPr>
          <p:spPr>
            <a:xfrm>
              <a:off x="3810000" y="4514850"/>
              <a:ext cx="7772400" cy="1809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7F3D0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6132" y="4667250"/>
              <a:ext cx="2642436" cy="150495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7249668" y="4889182"/>
              <a:ext cx="27521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Courier New"/>
                  <a:ea typeface="Courier New"/>
                  <a:cs typeface="Courier New"/>
                </a:rPr>
                <a:t>MOUNT, DON’T EXTRACT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45858" y="5246370"/>
              <a:ext cx="41783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Composable EROFS layers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49668" y="5689282"/>
              <a:ext cx="4770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reduce CPU pressure and disk-write traffic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802380" y="6543675"/>
            <a:ext cx="73822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Useful work begins without downloading and unpacking entire images first.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0550" y="450532"/>
            <a:ext cx="10641185" cy="1052513"/>
            <a:chOff x="590550" y="450532"/>
            <a:chExt cx="10641185" cy="1052513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50532"/>
              <a:ext cx="37378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</a:rPr>
                <a:t>07 · COMPLEMENTARY CONTROLS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741045"/>
              <a:ext cx="1064118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Density needs more than one mechanism</a:t>
              </a:r>
            </a:p>
          </p:txBody>
        </p:sp>
      </p:grpSp>
      <p:grpSp>
        <p:nvGrpSpPr>
          <p:cNvPr id="11" name="Group 11" descr="## [Group 11] MEMORY&#10;The component comparisons show complementary effects. Shared virtio-pmem mappings reduce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01a6138e0a0554e1616b0f81a3b5c12f900ee87cacecfb8e3c362de584d594ce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MEMORY</p2vs:concise>
                  <p2vs:detailed>The component comparisons show complementary effects. Shared virtio-pmem mappings reduce</p2vs:detailed>
                </p2vs:blockSemantics>
              </a:ext>
            </a:extLst>
          </p:cNvPr>
          <p:cNvGrpSpPr/>
          <p:nvPr/>
        </p:nvGrpSpPr>
        <p:grpSpPr>
          <a:xfrm>
            <a:off x="609600" y="1619250"/>
            <a:ext cx="3167996" cy="2171700"/>
            <a:chOff x="609600" y="1619250"/>
            <a:chExt cx="3167996" cy="2171700"/>
          </a:xfrm>
        </p:grpSpPr>
        <p:sp>
          <p:nvSpPr>
            <p:cNvPr id="5" name="Rectangle 5"/>
            <p:cNvSpPr/>
            <p:nvPr/>
          </p:nvSpPr>
          <p:spPr>
            <a:xfrm>
              <a:off x="609600" y="1619250"/>
              <a:ext cx="2686050" cy="217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9818" y="1879282"/>
              <a:ext cx="9778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A7F3D0"/>
                  </a:solidFill>
                  <a:latin typeface="Courier New"/>
                  <a:ea typeface="Courier New"/>
                  <a:cs typeface="Courier New"/>
                </a:rPr>
                <a:t>MEMORY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9150" y="2245995"/>
              <a:ext cx="166434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40.2%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818" y="2831782"/>
              <a:ext cx="26156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DCFCE7"/>
                  </a:solidFill>
                  <a:latin typeface="+mn-lt"/>
                  <a:ea typeface="+mn-ea"/>
                  <a:cs typeface="+mn-cs"/>
                </a:rPr>
                <a:t>lower peak host memory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6008" y="3188970"/>
              <a:ext cx="10251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21.2%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39468" y="3269932"/>
              <a:ext cx="19381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DCFCE7"/>
                  </a:solidFill>
                  <a:latin typeface="+mn-lt"/>
                  <a:ea typeface="+mn-ea"/>
                  <a:cs typeface="+mn-cs"/>
                </a:rPr>
                <a:t>less memory-time</a:t>
              </a:r>
            </a:p>
          </p:txBody>
        </p:sp>
      </p:grpSp>
      <p:grpSp>
        <p:nvGrpSpPr>
          <p:cNvPr id="14" name="Group 14" descr="## [Group 14] Group 14&#10;peak host memory, while free-page reporting recovers idle guest memory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1d7fa960cdfc98ee79ae9276e44acdefd47e1623b2d2b14d40899bbf49a5ea83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Group 14</p2vs:concise>
                  <p2vs:detailed>peak host memory, while free-page reporting recovers idle guest memory</p2vs:detailed>
                </p2vs:blockSemantics>
              </a:ext>
            </a:extLst>
          </p:cNvPr>
          <p:cNvGrpSpPr/>
          <p:nvPr/>
        </p:nvGrpSpPr>
        <p:grpSpPr>
          <a:xfrm>
            <a:off x="3600450" y="1619250"/>
            <a:ext cx="7981950" cy="2171700"/>
            <a:chOff x="3600450" y="1619250"/>
            <a:chExt cx="7981950" cy="2171700"/>
          </a:xfrm>
        </p:grpSpPr>
        <p:sp>
          <p:nvSpPr>
            <p:cNvPr id="12" name="Rectangle 12"/>
            <p:cNvSpPr/>
            <p:nvPr/>
          </p:nvSpPr>
          <p:spPr>
            <a:xfrm>
              <a:off x="3600450" y="1619250"/>
              <a:ext cx="7981950" cy="2171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7F3D0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3382" y="1771650"/>
              <a:ext cx="5676086" cy="1866900"/>
            </a:xfrm>
            <a:prstGeom prst="rect">
              <a:avLst/>
            </a:prstGeom>
          </p:spPr>
        </p:pic>
      </p:grpSp>
      <p:grpSp>
        <p:nvGrpSpPr>
          <p:cNvPr id="20" name="Group 20" descr="## [Group 20] CPU INTERFERENCE · 50% BE LOAD&#10;over time. For CPU isolation, SCHED_IDLE alone is insufficient, but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3d97902348d318cfc03f8f684b1c08d7dfabf0431c756665f12ecb466897b4dd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CPU INTERFERENCE · 50% BE LOAD</p2vs:concise>
                  <p2vs:detailed>over time. For CPU isolation, SCHED_IDLE alone is insufficient, but</p2vs:detailed>
                </p2vs:blockSemantics>
              </a:ext>
            </a:extLst>
          </p:cNvPr>
          <p:cNvGrpSpPr/>
          <p:nvPr/>
        </p:nvGrpSpPr>
        <p:grpSpPr>
          <a:xfrm>
            <a:off x="609600" y="4133850"/>
            <a:ext cx="4395996" cy="2087689"/>
            <a:chOff x="609600" y="4133850"/>
            <a:chExt cx="4395996" cy="2087689"/>
          </a:xfrm>
        </p:grpSpPr>
        <p:sp>
          <p:nvSpPr>
            <p:cNvPr id="15" name="Rectangle 15"/>
            <p:cNvSpPr/>
            <p:nvPr/>
          </p:nvSpPr>
          <p:spPr>
            <a:xfrm>
              <a:off x="609600" y="4133850"/>
              <a:ext cx="4095750" cy="198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9818" y="4374832"/>
              <a:ext cx="38117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Courier New"/>
                  <a:ea typeface="Courier New"/>
                  <a:cs typeface="Courier New"/>
                </a:rPr>
                <a:t>CPU INTERFERENCE · 50% BE LOAD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9150" y="4760595"/>
              <a:ext cx="351109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45.2 → 17.3%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9818" y="5365432"/>
              <a:ext cx="316001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latency inflation: unprotected</a:t>
              </a:r>
              <a:br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combined controls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9818" y="5898832"/>
              <a:ext cx="4175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SCHED_IDLE alone: ≤3.4% improvement</a:t>
              </a:r>
            </a:p>
          </p:txBody>
        </p:sp>
      </p:grpSp>
      <p:grpSp>
        <p:nvGrpSpPr>
          <p:cNvPr id="23" name="Group 23" descr="## [Group 23] Group 23&#10;combining it with core scheduling substantially limits latency inflation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a37a6f68ccd3ade482d0aed193a3ef2d17bec0717cf838a82968ffe2315a9e70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Group 23</p2vs:concise>
                  <p2vs:detailed>combining it with core scheduling substantially limits latency inflation.</p2vs:detailed>
                </p2vs:blockSemantics>
              </a:ext>
            </a:extLst>
          </p:cNvPr>
          <p:cNvGrpSpPr/>
          <p:nvPr/>
        </p:nvGrpSpPr>
        <p:grpSpPr>
          <a:xfrm>
            <a:off x="5010150" y="4133850"/>
            <a:ext cx="6572250" cy="1981200"/>
            <a:chOff x="5010150" y="4133850"/>
            <a:chExt cx="6572250" cy="1981200"/>
          </a:xfrm>
        </p:grpSpPr>
        <p:sp>
          <p:nvSpPr>
            <p:cNvPr id="21" name="Rectangle 21"/>
            <p:cNvSpPr/>
            <p:nvPr/>
          </p:nvSpPr>
          <p:spPr>
            <a:xfrm>
              <a:off x="5010150" y="4133850"/>
              <a:ext cx="6572250" cy="1981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7F3D0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79641" y="4286250"/>
              <a:ext cx="3433267" cy="1676400"/>
            </a:xfrm>
            <a:prstGeom prst="rect">
              <a:avLst/>
            </a:prstGeom>
          </p:spPr>
        </p:pic>
      </p:grpSp>
      <p:sp>
        <p:nvSpPr>
          <p:cNvPr id="24" name="TextBox 24"/>
          <p:cNvSpPr txBox="1"/>
          <p:nvPr/>
        </p:nvSpPr>
        <p:spPr>
          <a:xfrm>
            <a:off x="601218" y="6451282"/>
            <a:ext cx="111748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Shared mappings cut peaks; reclamation recovers idle memory; two-level scheduling protects latency.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0550" y="526732"/>
            <a:ext cx="7333572" cy="1052513"/>
            <a:chOff x="590550" y="526732"/>
            <a:chExt cx="7333572" cy="1052513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526732"/>
              <a:ext cx="39843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</a:rPr>
                <a:t>08 · PRODUCTION OPERATING POINT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17245"/>
              <a:ext cx="73335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Scale is a systems outcome</a:t>
              </a:r>
            </a:p>
          </p:txBody>
        </p:sp>
      </p:grpSp>
      <p:grpSp>
        <p:nvGrpSpPr>
          <p:cNvPr id="10" name="Group 10" descr="## [Group 10] 380K+&#10;At production scale, DSec supports more than three hundred eighty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5eb2ef190963d9cf7650b1a42a8b3bbad584c3fcd6fa0d94559d8f77d3c26e73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380K+</p2vs:concise>
                  <p2vs:detailed>At production scale, DSec supports more than three hundred eighty</p2vs:detailed>
                </p2vs:blockSemantics>
              </a:ext>
            </a:extLst>
          </p:cNvPr>
          <p:cNvGrpSpPr/>
          <p:nvPr/>
        </p:nvGrpSpPr>
        <p:grpSpPr>
          <a:xfrm>
            <a:off x="590550" y="1924050"/>
            <a:ext cx="2552700" cy="2078165"/>
            <a:chOff x="590550" y="1924050"/>
            <a:chExt cx="2552700" cy="2078165"/>
          </a:xfrm>
        </p:grpSpPr>
        <p:sp>
          <p:nvSpPr>
            <p:cNvPr id="5" name="Line 5"/>
            <p:cNvSpPr/>
            <p:nvPr/>
          </p:nvSpPr>
          <p:spPr>
            <a:xfrm>
              <a:off x="609600" y="1924050"/>
              <a:ext cx="2533650" cy="9525"/>
            </a:xfrm>
            <a:custGeom>
              <a:avLst/>
              <a:gdLst/>
              <a:ahLst/>
              <a:cxnLst/>
              <a:rect l="l" t="t" r="r" b="b"/>
              <a:pathLst>
                <a:path w="2533650" h="9525">
                  <a:moveTo>
                    <a:pt x="0" y="0"/>
                  </a:moveTo>
                  <a:lnTo>
                    <a:pt x="2533650" y="0"/>
                  </a:lnTo>
                </a:path>
              </a:pathLst>
            </a:custGeom>
            <a:noFill/>
            <a:ln w="7620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0550" y="2226945"/>
              <a:ext cx="1639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</a:rPr>
                <a:t>380K+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7408" y="2827020"/>
              <a:ext cx="1890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concurrent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3188970"/>
              <a:ext cx="17036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sandboxes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218" y="3679508"/>
              <a:ext cx="19825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across production</a:t>
              </a:r>
            </a:p>
          </p:txBody>
        </p:sp>
      </p:grpSp>
      <p:grpSp>
        <p:nvGrpSpPr>
          <p:cNvPr id="16" name="Group 16" descr="## [Group 16] 5K+&#10;thousand concurrent sandboxes and over five thousand creations per second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cbfec748e77822d58b7671118d30335988f7748c1a748220fc998a80b336d330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5K+</p2vs:concise>
                  <p2vs:detailed>thousand concurrent sandboxes and over five thousand creations per second.</p2vs:detailed>
                </p2vs:blockSemantics>
              </a:ext>
            </a:extLst>
          </p:cNvPr>
          <p:cNvGrpSpPr/>
          <p:nvPr/>
        </p:nvGrpSpPr>
        <p:grpSpPr>
          <a:xfrm>
            <a:off x="3409950" y="1924050"/>
            <a:ext cx="2552700" cy="2078165"/>
            <a:chOff x="3409950" y="1924050"/>
            <a:chExt cx="2552700" cy="2078165"/>
          </a:xfrm>
        </p:grpSpPr>
        <p:sp>
          <p:nvSpPr>
            <p:cNvPr id="11" name="Line 11"/>
            <p:cNvSpPr/>
            <p:nvPr/>
          </p:nvSpPr>
          <p:spPr>
            <a:xfrm>
              <a:off x="3429000" y="1924050"/>
              <a:ext cx="2533650" cy="9525"/>
            </a:xfrm>
            <a:custGeom>
              <a:avLst/>
              <a:gdLst/>
              <a:ahLst/>
              <a:cxnLst/>
              <a:rect l="l" t="t" r="r" b="b"/>
              <a:pathLst>
                <a:path w="2533650" h="9525">
                  <a:moveTo>
                    <a:pt x="0" y="0"/>
                  </a:moveTo>
                  <a:lnTo>
                    <a:pt x="2533650" y="0"/>
                  </a:lnTo>
                </a:path>
              </a:pathLst>
            </a:custGeom>
            <a:noFill/>
            <a:ln w="76200">
              <a:solidFill>
                <a:schemeClr val="accent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09950" y="2226945"/>
              <a:ext cx="99918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</a:rPr>
                <a:t>5K+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16808" y="28270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creations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16808" y="3188970"/>
              <a:ext cx="18054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per second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20618" y="3679508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burst throughput</a:t>
              </a:r>
            </a:p>
          </p:txBody>
        </p:sp>
      </p:grpSp>
      <p:grpSp>
        <p:nvGrpSpPr>
          <p:cNvPr id="22" name="Group 22" descr="## [Group 22] ≈3M&#10;One production unit spans roughly one hundred sixty nodes and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346713479ce1cb0a55ad4b64fff098862fce8aed8f884e17bfea5a07d56837db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≈3M</p2vs:concise>
                  <p2vs:detailed>One production unit spans roughly one hundred sixty nodes and</p2vs:detailed>
                </p2vs:blockSemantics>
              </a:ext>
            </a:extLst>
          </p:cNvPr>
          <p:cNvGrpSpPr/>
          <p:nvPr/>
        </p:nvGrpSpPr>
        <p:grpSpPr>
          <a:xfrm>
            <a:off x="6229350" y="1924050"/>
            <a:ext cx="2552700" cy="2078165"/>
            <a:chOff x="6229350" y="1924050"/>
            <a:chExt cx="2552700" cy="2078165"/>
          </a:xfrm>
        </p:grpSpPr>
        <p:sp>
          <p:nvSpPr>
            <p:cNvPr id="17" name="Line 17"/>
            <p:cNvSpPr/>
            <p:nvPr/>
          </p:nvSpPr>
          <p:spPr>
            <a:xfrm>
              <a:off x="6248400" y="1924050"/>
              <a:ext cx="2533650" cy="9525"/>
            </a:xfrm>
            <a:custGeom>
              <a:avLst/>
              <a:gdLst/>
              <a:ahLst/>
              <a:cxnLst/>
              <a:rect l="l" t="t" r="r" b="b"/>
              <a:pathLst>
                <a:path w="2533650" h="9525">
                  <a:moveTo>
                    <a:pt x="0" y="0"/>
                  </a:moveTo>
                  <a:lnTo>
                    <a:pt x="2533650" y="0"/>
                  </a:lnTo>
                </a:path>
              </a:pathLst>
            </a:custGeom>
            <a:noFill/>
            <a:ln w="7620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29350" y="2226945"/>
              <a:ext cx="111567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</a:rPr>
                <a:t>≈3M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36208" y="2827020"/>
              <a:ext cx="17036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sandboxes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36208" y="318897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per day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40018" y="3679508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per production unit</a:t>
              </a:r>
            </a:p>
          </p:txBody>
        </p:sp>
      </p:grpSp>
      <p:grpSp>
        <p:nvGrpSpPr>
          <p:cNvPr id="28" name="Group 28" descr="## [Group 28] ≈160&#10;serves about three million sandboxes each day. Individual nodes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830d6a9bfcb752efe4dd20b9bb746455f83c55d236f210344e4d42496fe61d12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≈160</p2vs:concise>
                  <p2vs:detailed>serves about three million sandboxes each day. Individual nodes</p2vs:detailed>
                </p2vs:blockSemantics>
              </a:ext>
            </a:extLst>
          </p:cNvPr>
          <p:cNvGrpSpPr/>
          <p:nvPr/>
        </p:nvGrpSpPr>
        <p:grpSpPr>
          <a:xfrm>
            <a:off x="9048750" y="1924050"/>
            <a:ext cx="2533650" cy="2078165"/>
            <a:chOff x="9048750" y="1924050"/>
            <a:chExt cx="2533650" cy="2078165"/>
          </a:xfrm>
        </p:grpSpPr>
        <p:sp>
          <p:nvSpPr>
            <p:cNvPr id="23" name="Line 23"/>
            <p:cNvSpPr/>
            <p:nvPr/>
          </p:nvSpPr>
          <p:spPr>
            <a:xfrm>
              <a:off x="9067800" y="19240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76200">
              <a:solidFill>
                <a:schemeClr val="accent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48750" y="2226945"/>
              <a:ext cx="125089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</a:rPr>
                <a:t>≈160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55608" y="282702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nodes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55608" y="3188970"/>
              <a:ext cx="1347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per unit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59418" y="3679508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dense cluster scale</a:t>
              </a:r>
            </a:p>
          </p:txBody>
        </p:sp>
      </p:grpSp>
      <p:grpSp>
        <p:nvGrpSpPr>
          <p:cNvPr id="32" name="Group 32" descr="## [Group 32] FROM NODE DENSITY TO FLEET ELASTICITY&#10;can host thousands of containers or hundreds of microVMs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47568bb475455acf6cbb2a856b22833efe921c6743f5ef8213998636412b21c8" orderSource="geometry" orderIndex="4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FROM NODE DENSITY TO FLEET ELASTICITY</p2vs:concise>
                  <p2vs:detailed>can host thousands of containers or hundreds of microVMs.</p2vs:detailed>
                </p2vs:blockSemantics>
              </a:ext>
            </a:extLst>
          </p:cNvPr>
          <p:cNvGrpSpPr/>
          <p:nvPr/>
        </p:nvGrpSpPr>
        <p:grpSpPr>
          <a:xfrm>
            <a:off x="609600" y="4667250"/>
            <a:ext cx="12050689" cy="1352550"/>
            <a:chOff x="609600" y="4667250"/>
            <a:chExt cx="12050689" cy="1352550"/>
          </a:xfrm>
        </p:grpSpPr>
        <p:sp>
          <p:nvSpPr>
            <p:cNvPr id="29" name="Rectangle 29"/>
            <p:cNvSpPr/>
            <p:nvPr/>
          </p:nvSpPr>
          <p:spPr>
            <a:xfrm>
              <a:off x="609600" y="4667250"/>
              <a:ext cx="10972800" cy="1352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6018" y="4984432"/>
              <a:ext cx="47359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3"/>
                  </a:solidFill>
                  <a:latin typeface="Courier New"/>
                  <a:ea typeface="Courier New"/>
                  <a:cs typeface="Courier New"/>
                </a:rPr>
                <a:t>FROM NODE DENSITY TO FLEET ELASTICITY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0303" y="5377339"/>
              <a:ext cx="11759986" cy="542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Thousands of containers—or hundreds of microVMs—per node.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01218" y="6394132"/>
            <a:ext cx="94310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platform converts complementary mechanism wins into one stable operating point.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0550" y="583882"/>
            <a:ext cx="10143625" cy="1052513"/>
            <a:chOff x="590550" y="583882"/>
            <a:chExt cx="10143625" cy="1052513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583882"/>
              <a:ext cx="17048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</a:rPr>
                <a:t>09 · TAKEAWAY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4395"/>
              <a:ext cx="1014362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platform is the training primitive</a:t>
              </a:r>
            </a:p>
          </p:txBody>
        </p:sp>
      </p:grpSp>
      <p:grpSp>
        <p:nvGrpSpPr>
          <p:cNvPr id="8" name="Group 8" descr="## [Group 8] Elastic execution, not merely faster containers.&#10;The central lesson is that agentic training needs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cc07957fb30d64875903deff06c3109e7397bf64dd50fd7a6e690102f9606dbb" orderSource="geometry" orderIndex="0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Elastic execution, not merely faster containers.</p2vs:concise>
                  <p2vs:detailed>The central lesson is that agentic training needs</p2vs:detailed>
                </p2vs:blockSemantics>
              </a:ext>
            </a:extLst>
          </p:cNvPr>
          <p:cNvGrpSpPr/>
          <p:nvPr/>
        </p:nvGrpSpPr>
        <p:grpSpPr>
          <a:xfrm>
            <a:off x="609600" y="1943100"/>
            <a:ext cx="10230630" cy="1162812"/>
            <a:chOff x="609600" y="1943100"/>
            <a:chExt cx="10230630" cy="1162812"/>
          </a:xfrm>
        </p:grpSpPr>
        <p:sp>
          <p:nvSpPr>
            <p:cNvPr id="5" name="Line 5"/>
            <p:cNvSpPr/>
            <p:nvPr/>
          </p:nvSpPr>
          <p:spPr>
            <a:xfrm>
              <a:off x="609600" y="1943100"/>
              <a:ext cx="9525" cy="1162050"/>
            </a:xfrm>
            <a:custGeom>
              <a:avLst/>
              <a:gdLst/>
              <a:ahLst/>
              <a:cxnLst/>
              <a:rect l="l" t="t" r="r" b="b"/>
              <a:pathLst>
                <a:path w="9525" h="1162050">
                  <a:moveTo>
                    <a:pt x="0" y="0"/>
                  </a:moveTo>
                  <a:lnTo>
                    <a:pt x="0" y="1162050"/>
                  </a:lnTo>
                </a:path>
              </a:pathLst>
            </a:custGeom>
            <a:noFill/>
            <a:ln w="7620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99922" y="2111692"/>
              <a:ext cx="975105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Elastic execution, not merely faster containers.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2208" y="2636520"/>
              <a:ext cx="99380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Match isolation to workload, then coordinate the whole stack.</a:t>
              </a:r>
            </a:p>
          </p:txBody>
        </p:sp>
      </p:grpSp>
      <p:grpSp>
        <p:nvGrpSpPr>
          <p:cNvPr id="14" name="Group 14" descr="## [Group 14] Match isolation&#10;an elastic execution platform, not merely faster containers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9ab94025a93d4576bd9552d467a985c80d48747824f33c8426333f6947897074" orderSource="geometry" orderIndex="1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Match isolation</p2vs:concise>
                  <p2vs:detailed>an elastic execution platform, not merely faster containers.</p2vs:detailed>
                </p2vs:blockSemantics>
              </a:ext>
            </a:extLst>
          </p:cNvPr>
          <p:cNvGrpSpPr/>
          <p:nvPr/>
        </p:nvGrpSpPr>
        <p:grpSpPr>
          <a:xfrm>
            <a:off x="638421" y="3843337"/>
            <a:ext cx="2455004" cy="739902"/>
            <a:chOff x="638421" y="3843337"/>
            <a:chExt cx="2455004" cy="739902"/>
          </a:xfrm>
        </p:grpSpPr>
        <p:grpSp>
          <p:nvGrpSpPr>
            <p:cNvPr id="11" name="Group 11"/>
            <p:cNvGrpSpPr/>
            <p:nvPr/>
          </p:nvGrpSpPr>
          <p:grpSpPr>
            <a:xfrm>
              <a:off x="638421" y="3843337"/>
              <a:ext cx="341011" cy="314325"/>
              <a:chOff x="638421" y="3843337"/>
              <a:chExt cx="341011" cy="3143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638421" y="3843337"/>
                <a:ext cx="341011" cy="311635"/>
              </a:xfrm>
              <a:custGeom>
                <a:avLst/>
                <a:gdLst/>
                <a:ahLst/>
                <a:cxnLst/>
                <a:rect l="l" t="t" r="r" b="b"/>
                <a:pathLst>
                  <a:path w="341011" h="311635">
                    <a:moveTo>
                      <a:pt x="171299" y="311635"/>
                    </a:moveTo>
                    <a:cubicBezTo>
                      <a:pt x="61905" y="277725"/>
                      <a:pt x="0" y="162269"/>
                      <a:pt x="32298" y="52387"/>
                    </a:cubicBezTo>
                    <a:cubicBezTo>
                      <a:pt x="86703" y="54877"/>
                      <a:pt x="139939" y="36088"/>
                      <a:pt x="180729" y="0"/>
                    </a:cubicBezTo>
                    <a:cubicBezTo>
                      <a:pt x="221518" y="36088"/>
                      <a:pt x="274755" y="54877"/>
                      <a:pt x="329160" y="52387"/>
                    </a:cubicBezTo>
                    <a:cubicBezTo>
                      <a:pt x="341011" y="92710"/>
                      <a:pt x="340463" y="135665"/>
                      <a:pt x="327588" y="175672"/>
                    </a:cubicBez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71537" y="408781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71956" y="3863340"/>
              <a:ext cx="19214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Match isolation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2718" y="4260532"/>
              <a:ext cx="16575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FnCall → full VM</a:t>
              </a:r>
            </a:p>
          </p:txBody>
        </p:sp>
      </p:grpSp>
      <p:grpSp>
        <p:nvGrpSpPr>
          <p:cNvPr id="20" name="Group 20" descr="## [Group 20] Compose layers&#10;DSec scales by matching isolation to each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81316fa07c22674b3eab0ab25d2a725e024c14557874ddbbea8e9301fe60ae86" orderSource="geometry" orderIndex="2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Compose layers</p2vs:concise>
                  <p2vs:detailed>DSec scales by matching isolation to each</p2vs:detailed>
                </p2vs:blockSemantics>
              </a:ext>
            </a:extLst>
          </p:cNvPr>
          <p:cNvGrpSpPr/>
          <p:nvPr/>
        </p:nvGrpSpPr>
        <p:grpSpPr>
          <a:xfrm>
            <a:off x="3422638" y="3860800"/>
            <a:ext cx="2565696" cy="709295"/>
            <a:chOff x="3422638" y="3860800"/>
            <a:chExt cx="2565696" cy="709295"/>
          </a:xfrm>
        </p:grpSpPr>
        <p:grpSp>
          <p:nvGrpSpPr>
            <p:cNvPr id="17" name="Group 17"/>
            <p:cNvGrpSpPr/>
            <p:nvPr/>
          </p:nvGrpSpPr>
          <p:grpSpPr>
            <a:xfrm>
              <a:off x="3422638" y="3860800"/>
              <a:ext cx="279412" cy="279400"/>
              <a:chOff x="3422638" y="3860800"/>
              <a:chExt cx="279412" cy="2794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492500" y="39306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92087" y="4680"/>
                    </a:moveTo>
                    <a:cubicBezTo>
                      <a:pt x="202893" y="10919"/>
                      <a:pt x="209549" y="22448"/>
                      <a:pt x="209550" y="34925"/>
                    </a:cubicBezTo>
                    <a:lnTo>
                      <a:pt x="209550" y="174625"/>
                    </a:lnTo>
                    <a:cubicBezTo>
                      <a:pt x="209550" y="193913"/>
                      <a:pt x="193913" y="209550"/>
                      <a:pt x="174625" y="209550"/>
                    </a:cubicBezTo>
                    <a:lnTo>
                      <a:pt x="34925" y="209550"/>
                    </a:lnTo>
                    <a:cubicBezTo>
                      <a:pt x="15636" y="209550"/>
                      <a:pt x="0" y="193913"/>
                      <a:pt x="0" y="174625"/>
                    </a:cubicBez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87312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422638" y="3860800"/>
                <a:ext cx="209562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62" h="209550">
                    <a:moveTo>
                      <a:pt x="17475" y="204905"/>
                    </a:moveTo>
                    <a:cubicBezTo>
                      <a:pt x="6658" y="198660"/>
                      <a:pt x="0" y="187114"/>
                      <a:pt x="12" y="174625"/>
                    </a:cubicBezTo>
                    <a:lnTo>
                      <a:pt x="12" y="34925"/>
                    </a:lnTo>
                    <a:cubicBezTo>
                      <a:pt x="12" y="15636"/>
                      <a:pt x="15649" y="0"/>
                      <a:pt x="34937" y="0"/>
                    </a:cubicBezTo>
                    <a:lnTo>
                      <a:pt x="174637" y="0"/>
                    </a:lnTo>
                    <a:cubicBezTo>
                      <a:pt x="193925" y="0"/>
                      <a:pt x="209562" y="15636"/>
                      <a:pt x="209562" y="34925"/>
                    </a:cubicBezTo>
                    <a:lnTo>
                      <a:pt x="209562" y="174625"/>
                    </a:lnTo>
                    <a:cubicBezTo>
                      <a:pt x="209562" y="193913"/>
                      <a:pt x="193925" y="209550"/>
                      <a:pt x="174637" y="209550"/>
                    </a:cubicBezTo>
                    <a:lnTo>
                      <a:pt x="122249" y="20955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915156" y="3863340"/>
              <a:ext cx="19092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Compose layers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16680" y="4276725"/>
              <a:ext cx="2071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Immutable · reusable</a:t>
              </a:r>
            </a:p>
          </p:txBody>
        </p:sp>
      </p:grpSp>
      <p:grpSp>
        <p:nvGrpSpPr>
          <p:cNvPr id="27" name="Group 27" descr="## [Group 27] Load on demand&#10;workload, loading data only when needed, preserving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d22bf798dca04d813ac6437de8c7f0ddbe98ede19f0eca2e6d3ee4e598e8d58b" orderSource="geometry" orderIndex="3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Load on demand</p2vs:concise>
                  <p2vs:detailed>workload, loading data only when needed, preserving</p2vs:detailed>
                </p2vs:blockSemantics>
              </a:ext>
            </a:extLst>
          </p:cNvPr>
          <p:cNvGrpSpPr/>
          <p:nvPr/>
        </p:nvGrpSpPr>
        <p:grpSpPr>
          <a:xfrm>
            <a:off x="6165850" y="3843337"/>
            <a:ext cx="2959381" cy="726758"/>
            <a:chOff x="6165850" y="3843337"/>
            <a:chExt cx="2959381" cy="726758"/>
          </a:xfrm>
        </p:grpSpPr>
        <p:grpSp>
          <p:nvGrpSpPr>
            <p:cNvPr id="24" name="Group 24"/>
            <p:cNvGrpSpPr/>
            <p:nvPr/>
          </p:nvGrpSpPr>
          <p:grpSpPr>
            <a:xfrm>
              <a:off x="6165850" y="3843337"/>
              <a:ext cx="279399" cy="314325"/>
              <a:chOff x="6165850" y="3843337"/>
              <a:chExt cx="279399" cy="3143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165850" y="3843337"/>
                <a:ext cx="279399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04775">
                    <a:moveTo>
                      <a:pt x="0" y="52387"/>
                    </a:moveTo>
                    <a:cubicBezTo>
                      <a:pt x="0" y="81320"/>
                      <a:pt x="62546" y="104775"/>
                      <a:pt x="139700" y="104775"/>
                    </a:cubicBezTo>
                    <a:cubicBezTo>
                      <a:pt x="216854" y="104775"/>
                      <a:pt x="279399" y="81320"/>
                      <a:pt x="279399" y="52387"/>
                    </a:cubicBezTo>
                    <a:cubicBezTo>
                      <a:pt x="279399" y="23455"/>
                      <a:pt x="216854" y="0"/>
                      <a:pt x="139700" y="0"/>
                    </a:cubicBezTo>
                    <a:cubicBezTo>
                      <a:pt x="62546" y="0"/>
                      <a:pt x="0" y="23455"/>
                      <a:pt x="0" y="52387"/>
                    </a:cubicBez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165850" y="3895725"/>
                <a:ext cx="27939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399" y="133708"/>
                      <a:pt x="279399" y="104775"/>
                    </a:cubicBezTo>
                    <a:lnTo>
                      <a:pt x="279399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165850" y="4000500"/>
                <a:ext cx="27939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399" y="133708"/>
                      <a:pt x="279399" y="104775"/>
                    </a:cubicBezTo>
                    <a:lnTo>
                      <a:pt x="279399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658356" y="3863340"/>
              <a:ext cx="19099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Load on demand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83680" y="4276725"/>
              <a:ext cx="25415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Local metadata · lazy I/O</a:t>
              </a:r>
            </a:p>
          </p:txBody>
        </p:sp>
      </p:grpSp>
      <p:grpSp>
        <p:nvGrpSpPr>
          <p:cNvPr id="41" name="Group 41" descr="## [Group 41] Coordinate resources&#10;state across the training lifecycle, and coordinating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20857f3e01b3022b32a9dae9714dd21c7c8bd690520763c2021b9655565d9570" orderSource="geometry" orderIndex="4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Coordinate resources</p2vs:concise>
                  <p2vs:detailed>state across the training lifecycle, and coordinating</p2vs:detailed>
                </p2vs:blockSemantics>
              </a:ext>
            </a:extLst>
          </p:cNvPr>
          <p:cNvGrpSpPr/>
          <p:nvPr/>
        </p:nvGrpSpPr>
        <p:grpSpPr>
          <a:xfrm>
            <a:off x="8891587" y="3843337"/>
            <a:ext cx="2767316" cy="726758"/>
            <a:chOff x="8891587" y="3843337"/>
            <a:chExt cx="2767316" cy="726758"/>
          </a:xfrm>
        </p:grpSpPr>
        <p:grpSp>
          <p:nvGrpSpPr>
            <p:cNvPr id="38" name="Group 38"/>
            <p:cNvGrpSpPr/>
            <p:nvPr/>
          </p:nvGrpSpPr>
          <p:grpSpPr>
            <a:xfrm>
              <a:off x="8891587" y="3843337"/>
              <a:ext cx="314325" cy="314325"/>
              <a:chOff x="8891587" y="3843337"/>
              <a:chExt cx="314325" cy="3143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926512" y="3878262"/>
                <a:ext cx="24447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244475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227012" y="0"/>
                    </a:lnTo>
                    <a:cubicBezTo>
                      <a:pt x="236656" y="0"/>
                      <a:pt x="244475" y="7818"/>
                      <a:pt x="244475" y="17462"/>
                    </a:cubicBezTo>
                    <a:lnTo>
                      <a:pt x="244475" y="227012"/>
                    </a:lnTo>
                    <a:cubicBezTo>
                      <a:pt x="244475" y="236656"/>
                      <a:pt x="236656" y="244475"/>
                      <a:pt x="227012" y="244475"/>
                    </a:cubicBezTo>
                    <a:lnTo>
                      <a:pt x="17462" y="244475"/>
                    </a:lnTo>
                    <a:cubicBezTo>
                      <a:pt x="7818" y="244475"/>
                      <a:pt x="0" y="236656"/>
                      <a:pt x="0" y="227012"/>
                    </a:cubicBezTo>
                    <a:lnTo>
                      <a:pt x="0" y="17462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996362" y="3948112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104775"/>
                    </a:lnTo>
                    <a:lnTo>
                      <a:pt x="0" y="104775"/>
                    </a:ln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891587" y="396557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891587" y="403542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013825" y="3843337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083675" y="3843337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170987" y="396557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34925" y="0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170987" y="403542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34925" y="0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083675" y="4122737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3492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013825" y="4122737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3492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9403080" y="3895725"/>
              <a:ext cx="22481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Coordinate resources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03080" y="4276725"/>
              <a:ext cx="22558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Memory + CPU controls</a:t>
              </a:r>
            </a:p>
          </p:txBody>
        </p:sp>
      </p:grpSp>
      <p:grpSp>
        <p:nvGrpSpPr>
          <p:cNvPr id="47" name="Group 47" descr="## [Group 47] DeepSeek Elastic Compute · arXiv:2609.22978&#10;memory and CPU controls across dense clusters.">
            <a:extLst>
              <a:ext uri="https://github.com/microsoft/ResearchStudio/paper2video/script-provenance/2026">
                <p2v:scriptBaseline xmlns:p2v="https://github.com/microsoft/ResearchStudio/paper2video/script-provenance/2026" algorithm="sha256" normalization="oneline-v1" sha256="bac5901abf91902d2fa3e591357cefc23459008c0e23bbb10f94c41f5c150a59" orderSource="geometry" orderIndex="5"/>
              </a:ext>
              <a:ext uri="https://github.com/microsoft/ResearchStudio/paper2video/semantic-provenance/2026">
                <p2vs:blockSemantics xmlns:p2vs="https://github.com/microsoft/ResearchStudio/paper2video/semantic-provenance/2026" schemaVersion="1">
                  <p2vs:concise>DeepSeek Elastic Compute · arXiv:2609.22978</p2vs:concise>
                  <p2vs:detailed>memory and CPU controls across dense clusters.</p2vs:detailed>
                </p2vs:blockSemantics>
              </a:ext>
            </a:extLst>
          </p:cNvPr>
          <p:cNvGrpSpPr/>
          <p:nvPr/>
        </p:nvGrpSpPr>
        <p:grpSpPr>
          <a:xfrm>
            <a:off x="609600" y="5334000"/>
            <a:ext cx="10972800" cy="1047750"/>
            <a:chOff x="609600" y="5334000"/>
            <a:chExt cx="10972800" cy="1047750"/>
          </a:xfrm>
        </p:grpSpPr>
        <p:sp>
          <p:nvSpPr>
            <p:cNvPr id="42" name="Line 42"/>
            <p:cNvSpPr/>
            <p:nvPr/>
          </p:nvSpPr>
          <p:spPr>
            <a:xfrm>
              <a:off x="609600" y="533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86EFAC"/>
              </a:solidFill>
            </a:ln>
          </p:spPr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5657850"/>
              <a:ext cx="2324100" cy="49530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3325368" y="5727382"/>
              <a:ext cx="49771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DeepSeek Elastic Compute · arXiv:2609.22978</a:t>
              </a: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72750" y="5505450"/>
              <a:ext cx="876300" cy="876300"/>
            </a:xfrm>
            <a:prstGeom prst="rect">
              <a:avLst/>
            </a:prstGeom>
          </p:spPr>
        </p:pic>
        <p:sp>
          <p:nvSpPr>
            <p:cNvPr id="46" name="TextBox 46"/>
            <p:cNvSpPr txBox="1"/>
            <p:nvPr/>
          </p:nvSpPr>
          <p:spPr>
            <a:xfrm>
              <a:off x="8747989" y="5860732"/>
              <a:ext cx="1623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Read the paper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sec_video">
  <a:themeElements>
    <a:clrScheme name="dsec_video">
      <a:dk1>
        <a:srgbClr val="14532D"/>
      </a:dk1>
      <a:lt1>
        <a:srgbClr val="F0FDF4"/>
      </a:lt1>
      <a:dk2>
        <a:srgbClr val="1F497D"/>
      </a:dk2>
      <a:lt2>
        <a:srgbClr val="DCFCE7"/>
      </a:lt2>
      <a:accent1>
        <a:srgbClr val="14532D"/>
      </a:accent1>
      <a:accent2>
        <a:srgbClr val="10B981"/>
      </a:accent2>
      <a:accent3>
        <a:srgbClr val="059669"/>
      </a:accent3>
      <a:accent4>
        <a:srgbClr val="14532D"/>
      </a:accent4>
      <a:accent5>
        <a:srgbClr val="4BACC6"/>
      </a:accent5>
      <a:accent6>
        <a:srgbClr val="F79646"/>
      </a:accent6>
      <a:hlink>
        <a:srgbClr val="10B981"/>
      </a:hlink>
      <a:folHlink>
        <a:srgbClr val="059669"/>
      </a:folHlink>
    </a:clrScheme>
    <a:fontScheme name="dsec_vide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ec_vide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sec_video">
  <a:themeElements>
    <a:clrScheme name="dsec_video">
      <a:dk1>
        <a:srgbClr val="14532D"/>
      </a:dk1>
      <a:lt1>
        <a:srgbClr val="F0FDF4"/>
      </a:lt1>
      <a:dk2>
        <a:srgbClr val="1F497D"/>
      </a:dk2>
      <a:lt2>
        <a:srgbClr val="DCFCE7"/>
      </a:lt2>
      <a:accent1>
        <a:srgbClr val="14532D"/>
      </a:accent1>
      <a:accent2>
        <a:srgbClr val="10B981"/>
      </a:accent2>
      <a:accent3>
        <a:srgbClr val="059669"/>
      </a:accent3>
      <a:accent4>
        <a:srgbClr val="14532D"/>
      </a:accent4>
      <a:accent5>
        <a:srgbClr val="4BACC6"/>
      </a:accent5>
      <a:accent6>
        <a:srgbClr val="F79646"/>
      </a:accent6>
      <a:hlink>
        <a:srgbClr val="10B981"/>
      </a:hlink>
      <a:folHlink>
        <a:srgbClr val="059669"/>
      </a:folHlink>
    </a:clrScheme>
    <a:fontScheme name="dsec_vide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ec_vide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en-US</dc:language>
  <cp:lastModifiedBy/>
  <cp:revision>1</cp:revision>
  <dcterms:created xsi:type="dcterms:W3CDTF">2026-09-23T11:15:30Z</dcterms:created>
  <dcterms:modified xsi:type="dcterms:W3CDTF">2026-09-23T11:15:30Z</dcterms:modified>
  <cp:category/>
  <cp:contentStatus/>
</cp:coreProperties>
</file>